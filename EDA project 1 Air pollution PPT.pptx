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8" r:id="rId3"/>
    <p:sldId id="261" r:id="rId4"/>
    <p:sldId id="262" r:id="rId5"/>
    <p:sldId id="263" r:id="rId6"/>
    <p:sldId id="267" r:id="rId7"/>
    <p:sldId id="268" r:id="rId8"/>
    <p:sldId id="265" r:id="rId9"/>
    <p:sldId id="273" r:id="rId10"/>
    <p:sldId id="274" r:id="rId11"/>
    <p:sldId id="269" r:id="rId12"/>
    <p:sldId id="270" r:id="rId13"/>
    <p:sldId id="272" r:id="rId14"/>
    <p:sldId id="271" r:id="rId15"/>
    <p:sldId id="275" r:id="rId16"/>
    <p:sldId id="259" r:id="rId17"/>
  </p:sldIdLst>
  <p:sldSz cx="12192000" cy="6858000"/>
  <p:notesSz cx="6858000" cy="9144000"/>
  <p:embeddedFontLst>
    <p:embeddedFont>
      <p:font typeface="Bookman Old Style" panose="02050604050505020204" pitchFamily="18" charset="0"/>
      <p:regular r:id="rId19"/>
      <p:bold r:id="rId20"/>
      <p:italic r:id="rId21"/>
      <p:boldItalic r:id="rId22"/>
    </p:embeddedFont>
    <p:embeddedFont>
      <p:font typeface="Libre Baskerville" panose="02000000000000000000" pitchFamily="2" charset="0"/>
      <p:regular r:id="rId23"/>
      <p:bold r:id="rId24"/>
      <p: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yavarshi14@outlook.com" userId="dd2c8fb261e727ef" providerId="LiveId" clId="{152D00C6-0823-40BC-BFF1-C9EA9136BFC7}"/>
    <pc:docChg chg="modSld">
      <pc:chgData name="riyavarshi14@outlook.com" userId="dd2c8fb261e727ef" providerId="LiveId" clId="{152D00C6-0823-40BC-BFF1-C9EA9136BFC7}" dt="2025-04-20T16:42:56.458" v="0" actId="1036"/>
      <pc:docMkLst>
        <pc:docMk/>
      </pc:docMkLst>
      <pc:sldChg chg="modSp mod">
        <pc:chgData name="riyavarshi14@outlook.com" userId="dd2c8fb261e727ef" providerId="LiveId" clId="{152D00C6-0823-40BC-BFF1-C9EA9136BFC7}" dt="2025-04-20T16:42:56.458" v="0" actId="1036"/>
        <pc:sldMkLst>
          <pc:docMk/>
          <pc:sldMk cId="0" sldId="256"/>
        </pc:sldMkLst>
        <pc:picChg chg="mod">
          <ac:chgData name="riyavarshi14@outlook.com" userId="dd2c8fb261e727ef" providerId="LiveId" clId="{152D00C6-0823-40BC-BFF1-C9EA9136BFC7}" dt="2025-04-20T16:42:56.458" v="0" actId="1036"/>
          <ac:picMkLst>
            <pc:docMk/>
            <pc:sldMk cId="0" sldId="256"/>
            <ac:picMk id="98" creationId="{00000000-0000-0000-0000-00000000000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46BB4D-E2C6-4C1C-85A6-9DDA90802CF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B5B0B1C2-EDF4-411B-9FC4-E86404175CA9}">
      <dgm:prSet/>
      <dgm:spPr/>
      <dgm:t>
        <a:bodyPr/>
        <a:lstStyle/>
        <a:p>
          <a:r>
            <a:rPr lang="en-US" b="0" i="0" dirty="0"/>
            <a:t>Drop Duplicates</a:t>
          </a:r>
          <a:endParaRPr lang="en-IN" dirty="0"/>
        </a:p>
      </dgm:t>
    </dgm:pt>
    <dgm:pt modelId="{6F910E4C-DBB8-47A2-8516-AA9C95DEBFFD}" type="parTrans" cxnId="{CAB9824C-BEF9-4F8D-B982-817778BB7CFE}">
      <dgm:prSet/>
      <dgm:spPr/>
      <dgm:t>
        <a:bodyPr/>
        <a:lstStyle/>
        <a:p>
          <a:endParaRPr lang="en-IN"/>
        </a:p>
      </dgm:t>
    </dgm:pt>
    <dgm:pt modelId="{C91D8BA4-5C65-406E-B8B4-8FE120148DB0}" type="sibTrans" cxnId="{CAB9824C-BEF9-4F8D-B982-817778BB7CFE}">
      <dgm:prSet/>
      <dgm:spPr/>
      <dgm:t>
        <a:bodyPr/>
        <a:lstStyle/>
        <a:p>
          <a:endParaRPr lang="en-IN"/>
        </a:p>
      </dgm:t>
    </dgm:pt>
    <dgm:pt modelId="{3BCDE0C5-B972-46A2-A50E-5AE8085A9AAB}">
      <dgm:prSet/>
      <dgm:spPr/>
      <dgm:t>
        <a:bodyPr/>
        <a:lstStyle/>
        <a:p>
          <a:r>
            <a:rPr lang="en-US" b="0" i="0" dirty="0"/>
            <a:t>Null Values prediction and fill methods</a:t>
          </a:r>
          <a:endParaRPr lang="en-IN" dirty="0"/>
        </a:p>
      </dgm:t>
    </dgm:pt>
    <dgm:pt modelId="{A52C7882-9924-4DDD-8004-80C171270B77}" type="parTrans" cxnId="{D72DC23B-17E6-4798-B817-815ECE27A277}">
      <dgm:prSet/>
      <dgm:spPr/>
      <dgm:t>
        <a:bodyPr/>
        <a:lstStyle/>
        <a:p>
          <a:endParaRPr lang="en-IN"/>
        </a:p>
      </dgm:t>
    </dgm:pt>
    <dgm:pt modelId="{4B5789A5-4ECC-4556-96D4-FDFC1327C111}" type="sibTrans" cxnId="{D72DC23B-17E6-4798-B817-815ECE27A277}">
      <dgm:prSet/>
      <dgm:spPr/>
      <dgm:t>
        <a:bodyPr/>
        <a:lstStyle/>
        <a:p>
          <a:endParaRPr lang="en-IN"/>
        </a:p>
      </dgm:t>
    </dgm:pt>
    <dgm:pt modelId="{0D3201F6-0579-436B-A050-DBB6C3623D53}">
      <dgm:prSet custT="1"/>
      <dgm:spPr/>
      <dgm:t>
        <a:bodyPr/>
        <a:lstStyle/>
        <a:p>
          <a:r>
            <a:rPr lang="en-US" sz="1600" b="0" i="0" dirty="0">
              <a:latin typeface="Calibri" panose="020F0502020204030204" pitchFamily="34" charset="0"/>
              <a:ea typeface="Calibri" panose="020F0502020204030204" pitchFamily="34" charset="0"/>
              <a:cs typeface="Calibri" panose="020F0502020204030204" pitchFamily="34" charset="0"/>
            </a:rPr>
            <a:t>df.isnull().sum()/len(df)*100</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FFC2ADD2-A834-4E97-A2F0-1F699FBE2EC5}" type="parTrans" cxnId="{08E4883C-D106-4323-8782-F4C78CF7C177}">
      <dgm:prSet/>
      <dgm:spPr/>
      <dgm:t>
        <a:bodyPr/>
        <a:lstStyle/>
        <a:p>
          <a:endParaRPr lang="en-IN"/>
        </a:p>
      </dgm:t>
    </dgm:pt>
    <dgm:pt modelId="{F421BD85-D38F-4B6D-BA87-CE3F9E723E03}" type="sibTrans" cxnId="{08E4883C-D106-4323-8782-F4C78CF7C177}">
      <dgm:prSet/>
      <dgm:spPr/>
      <dgm:t>
        <a:bodyPr/>
        <a:lstStyle/>
        <a:p>
          <a:endParaRPr lang="en-IN"/>
        </a:p>
      </dgm:t>
    </dgm:pt>
    <dgm:pt modelId="{9D64077F-8E39-429D-9DFA-95759781EB5B}">
      <dgm:prSet custT="1"/>
      <dgm:spPr/>
      <dgm:t>
        <a:bodyPr/>
        <a:lstStyle/>
        <a:p>
          <a:r>
            <a:rPr lang="en-IN" sz="1600" b="0" i="0" dirty="0">
              <a:latin typeface="Calibri" panose="020F0502020204030204" pitchFamily="34" charset="0"/>
              <a:ea typeface="Calibri" panose="020F0502020204030204" pitchFamily="34" charset="0"/>
              <a:cs typeface="Calibri" panose="020F0502020204030204" pitchFamily="34" charset="0"/>
            </a:rPr>
            <a:t>df[‘col’]=df[‘col’].fillna(df[‘col’].mean()/mode()/median()</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6094CF7B-369E-4285-9DE8-1A2FC0DB8002}" type="parTrans" cxnId="{7A1225C5-E51B-4DF3-BF89-1EF7FE59F287}">
      <dgm:prSet/>
      <dgm:spPr/>
      <dgm:t>
        <a:bodyPr/>
        <a:lstStyle/>
        <a:p>
          <a:endParaRPr lang="en-IN"/>
        </a:p>
      </dgm:t>
    </dgm:pt>
    <dgm:pt modelId="{3C33688B-8BD2-45AD-AAB6-5B21D28ACDC1}" type="sibTrans" cxnId="{7A1225C5-E51B-4DF3-BF89-1EF7FE59F287}">
      <dgm:prSet/>
      <dgm:spPr/>
      <dgm:t>
        <a:bodyPr/>
        <a:lstStyle/>
        <a:p>
          <a:endParaRPr lang="en-IN"/>
        </a:p>
      </dgm:t>
    </dgm:pt>
    <dgm:pt modelId="{6655148C-D11E-470A-980B-8D2F0EAC5D1C}">
      <dgm:prSet custT="1"/>
      <dgm:spPr/>
      <dgm:t>
        <a:bodyPr/>
        <a:lstStyle/>
        <a:p>
          <a:r>
            <a:rPr lang="en-IN" sz="1600" b="0" i="0" dirty="0">
              <a:latin typeface="Calibri" panose="020F0502020204030204" pitchFamily="34" charset="0"/>
              <a:ea typeface="Calibri" panose="020F0502020204030204" pitchFamily="34" charset="0"/>
              <a:cs typeface="Calibri" panose="020F0502020204030204" pitchFamily="34" charset="0"/>
            </a:rPr>
            <a:t>df[‘col’]=df[‘col’].fillna(method=‘ffill’)</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55979562-B8B1-4C89-B2F9-F62B0418B5E7}" type="parTrans" cxnId="{068D8E59-C1C5-41F7-B5B3-2524064836F9}">
      <dgm:prSet/>
      <dgm:spPr/>
      <dgm:t>
        <a:bodyPr/>
        <a:lstStyle/>
        <a:p>
          <a:endParaRPr lang="en-IN"/>
        </a:p>
      </dgm:t>
    </dgm:pt>
    <dgm:pt modelId="{C5A32728-70B4-4D49-B22F-7D53550DA246}" type="sibTrans" cxnId="{068D8E59-C1C5-41F7-B5B3-2524064836F9}">
      <dgm:prSet/>
      <dgm:spPr/>
      <dgm:t>
        <a:bodyPr/>
        <a:lstStyle/>
        <a:p>
          <a:endParaRPr lang="en-IN"/>
        </a:p>
      </dgm:t>
    </dgm:pt>
    <dgm:pt modelId="{A9A65AA4-8898-4373-BAF8-8E07CA3D9B3A}">
      <dgm:prSet custT="1"/>
      <dgm:spPr/>
      <dgm:t>
        <a:bodyPr/>
        <a:lstStyle/>
        <a:p>
          <a:r>
            <a:rPr lang="en-IN" sz="1600" b="0" i="0" dirty="0">
              <a:latin typeface="Calibri" panose="020F0502020204030204" pitchFamily="34" charset="0"/>
              <a:ea typeface="Calibri" panose="020F0502020204030204" pitchFamily="34" charset="0"/>
              <a:cs typeface="Calibri" panose="020F0502020204030204" pitchFamily="34" charset="0"/>
            </a:rPr>
            <a:t>df[‘col’]=df[‘col’].fillna(method=‘bfill’)</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24BEAFB2-0E78-479F-BFCE-14049E070D98}" type="parTrans" cxnId="{D6FA8EF8-E06A-4F6E-A630-CF37EAEF92F9}">
      <dgm:prSet/>
      <dgm:spPr/>
      <dgm:t>
        <a:bodyPr/>
        <a:lstStyle/>
        <a:p>
          <a:endParaRPr lang="en-IN"/>
        </a:p>
      </dgm:t>
    </dgm:pt>
    <dgm:pt modelId="{8A48403A-C9C9-4BB3-932B-B17F4D2E47AD}" type="sibTrans" cxnId="{D6FA8EF8-E06A-4F6E-A630-CF37EAEF92F9}">
      <dgm:prSet/>
      <dgm:spPr/>
      <dgm:t>
        <a:bodyPr/>
        <a:lstStyle/>
        <a:p>
          <a:endParaRPr lang="en-IN"/>
        </a:p>
      </dgm:t>
    </dgm:pt>
    <dgm:pt modelId="{09402412-4F4F-4FEE-8C70-B814DCEE29A8}">
      <dgm:prSet custT="1"/>
      <dgm:spPr/>
      <dgm:t>
        <a:bodyPr/>
        <a:lstStyle/>
        <a:p>
          <a:r>
            <a:rPr lang="en-US" sz="1600" b="0" i="0" dirty="0">
              <a:latin typeface="Calibri" panose="020F0502020204030204" pitchFamily="34" charset="0"/>
              <a:ea typeface="Calibri" panose="020F0502020204030204" pitchFamily="34" charset="0"/>
              <a:cs typeface="Calibri" panose="020F0502020204030204" pitchFamily="34" charset="0"/>
            </a:rPr>
            <a:t>df.dropna(subset=[‘col’],inplace=True)</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F612E049-41D9-4B4E-8FA2-83C2F812AC26}" type="parTrans" cxnId="{F732221E-CAEF-46E8-B0E0-668AF39A3665}">
      <dgm:prSet/>
      <dgm:spPr/>
      <dgm:t>
        <a:bodyPr/>
        <a:lstStyle/>
        <a:p>
          <a:endParaRPr lang="en-IN"/>
        </a:p>
      </dgm:t>
    </dgm:pt>
    <dgm:pt modelId="{12FB04CD-28CF-4DBC-8AB5-4015CFADA1D6}" type="sibTrans" cxnId="{F732221E-CAEF-46E8-B0E0-668AF39A3665}">
      <dgm:prSet/>
      <dgm:spPr/>
      <dgm:t>
        <a:bodyPr/>
        <a:lstStyle/>
        <a:p>
          <a:endParaRPr lang="en-IN"/>
        </a:p>
      </dgm:t>
    </dgm:pt>
    <dgm:pt modelId="{4AEEDBA0-4E70-4768-83A5-CA9F4EAC0974}">
      <dgm:prSet/>
      <dgm:spPr/>
      <dgm:t>
        <a:bodyPr/>
        <a:lstStyle/>
        <a:p>
          <a:r>
            <a:rPr lang="en-US" b="0" i="0" dirty="0"/>
            <a:t>Type Conversion</a:t>
          </a:r>
          <a:endParaRPr lang="en-IN" dirty="0"/>
        </a:p>
      </dgm:t>
    </dgm:pt>
    <dgm:pt modelId="{614D9E65-27D7-471F-A853-8325AD5D2DD3}" type="parTrans" cxnId="{97FA3F3C-2BFE-4EB8-B278-BC3F9295A521}">
      <dgm:prSet/>
      <dgm:spPr/>
      <dgm:t>
        <a:bodyPr/>
        <a:lstStyle/>
        <a:p>
          <a:endParaRPr lang="en-IN"/>
        </a:p>
      </dgm:t>
    </dgm:pt>
    <dgm:pt modelId="{8FD1CA57-728B-4884-B38A-6CA3D25D90DF}" type="sibTrans" cxnId="{97FA3F3C-2BFE-4EB8-B278-BC3F9295A521}">
      <dgm:prSet/>
      <dgm:spPr/>
      <dgm:t>
        <a:bodyPr/>
        <a:lstStyle/>
        <a:p>
          <a:endParaRPr lang="en-IN"/>
        </a:p>
      </dgm:t>
    </dgm:pt>
    <dgm:pt modelId="{3C6AEF9C-B369-4A30-AD13-14F8DD5CF7DC}">
      <dgm:prSet custT="1"/>
      <dgm:spPr/>
      <dgm:t>
        <a:bodyPr/>
        <a:lstStyle/>
        <a:p>
          <a:r>
            <a:rPr lang="en-US" sz="1600" b="0" i="0" dirty="0">
              <a:latin typeface="Calibri" panose="020F0502020204030204" pitchFamily="34" charset="0"/>
              <a:ea typeface="Calibri" panose="020F0502020204030204" pitchFamily="34" charset="0"/>
              <a:cs typeface="Calibri" panose="020F0502020204030204" pitchFamily="34" charset="0"/>
            </a:rPr>
            <a:t>df[“col"]=df[“col"].astype(“int”)</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C58AD6E5-9835-42C1-8214-DA5FA2ECAD29}" type="parTrans" cxnId="{9B9620FC-ABF1-47E1-A845-2AD7CDDBE3B3}">
      <dgm:prSet/>
      <dgm:spPr/>
      <dgm:t>
        <a:bodyPr/>
        <a:lstStyle/>
        <a:p>
          <a:endParaRPr lang="en-IN"/>
        </a:p>
      </dgm:t>
    </dgm:pt>
    <dgm:pt modelId="{6FDCE10C-1C06-4496-AB84-C38179D88BF4}" type="sibTrans" cxnId="{9B9620FC-ABF1-47E1-A845-2AD7CDDBE3B3}">
      <dgm:prSet/>
      <dgm:spPr/>
      <dgm:t>
        <a:bodyPr/>
        <a:lstStyle/>
        <a:p>
          <a:endParaRPr lang="en-IN"/>
        </a:p>
      </dgm:t>
    </dgm:pt>
    <dgm:pt modelId="{49A5FDDB-A752-496E-B1F9-6743571D261D}">
      <dgm:prSet custT="1"/>
      <dgm:spPr/>
      <dgm:t>
        <a:bodyPr/>
        <a:lstStyle/>
        <a:p>
          <a:r>
            <a:rPr lang="en-US" sz="1600" b="0" i="0" dirty="0">
              <a:latin typeface="Calibri" panose="020F0502020204030204" pitchFamily="34" charset="0"/>
              <a:ea typeface="Calibri" panose="020F0502020204030204" pitchFamily="34" charset="0"/>
              <a:cs typeface="Calibri" panose="020F0502020204030204" pitchFamily="34" charset="0"/>
            </a:rPr>
            <a:t>df[“col"]=pd.to_datetime(df[“col"],errors="coerce")</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644603C5-1201-4459-B871-E3825050F2A5}" type="parTrans" cxnId="{AD703C31-BA36-46B5-8096-BB9218B3F093}">
      <dgm:prSet/>
      <dgm:spPr/>
      <dgm:t>
        <a:bodyPr/>
        <a:lstStyle/>
        <a:p>
          <a:endParaRPr lang="en-IN"/>
        </a:p>
      </dgm:t>
    </dgm:pt>
    <dgm:pt modelId="{A6F72ABC-9E61-4B90-AD58-9F664F4F615B}" type="sibTrans" cxnId="{AD703C31-BA36-46B5-8096-BB9218B3F093}">
      <dgm:prSet/>
      <dgm:spPr/>
      <dgm:t>
        <a:bodyPr/>
        <a:lstStyle/>
        <a:p>
          <a:endParaRPr lang="en-IN"/>
        </a:p>
      </dgm:t>
    </dgm:pt>
    <dgm:pt modelId="{5C367978-7BCF-4D5A-9917-4B44321B8BCE}">
      <dgm:prSet/>
      <dgm:spPr/>
      <dgm:t>
        <a:bodyPr/>
        <a:lstStyle/>
        <a:p>
          <a:r>
            <a:rPr lang="en-IN" b="0" i="0" dirty="0"/>
            <a:t>Standardize Text Entries</a:t>
          </a:r>
          <a:r>
            <a:rPr lang="en-US" b="0" i="0" dirty="0"/>
            <a:t> using string methods</a:t>
          </a:r>
          <a:endParaRPr lang="en-IN" dirty="0"/>
        </a:p>
      </dgm:t>
    </dgm:pt>
    <dgm:pt modelId="{46123160-EBB4-4A59-8A2F-073BF3F294EB}" type="parTrans" cxnId="{8A609E82-9E1F-49DC-A7DA-0DB431A1D79A}">
      <dgm:prSet/>
      <dgm:spPr/>
      <dgm:t>
        <a:bodyPr/>
        <a:lstStyle/>
        <a:p>
          <a:endParaRPr lang="en-IN"/>
        </a:p>
      </dgm:t>
    </dgm:pt>
    <dgm:pt modelId="{020EEF0E-3721-44B1-9345-AE3BFBCDF94E}" type="sibTrans" cxnId="{8A609E82-9E1F-49DC-A7DA-0DB431A1D79A}">
      <dgm:prSet/>
      <dgm:spPr/>
      <dgm:t>
        <a:bodyPr/>
        <a:lstStyle/>
        <a:p>
          <a:endParaRPr lang="en-IN"/>
        </a:p>
      </dgm:t>
    </dgm:pt>
    <dgm:pt modelId="{724CF36E-04CB-4CDA-96E0-5162B88EA442}">
      <dgm:prSet custT="1"/>
      <dgm:spPr/>
      <dgm:t>
        <a:bodyPr/>
        <a:lstStyle/>
        <a:p>
          <a:r>
            <a:rPr lang="en-US" sz="1600" b="0" i="0" dirty="0">
              <a:latin typeface="Calibri" panose="020F0502020204030204" pitchFamily="34" charset="0"/>
              <a:ea typeface="Calibri" panose="020F0502020204030204" pitchFamily="34" charset="0"/>
              <a:cs typeface="Calibri" panose="020F0502020204030204" pitchFamily="34" charset="0"/>
            </a:rPr>
            <a:t>df[“col"] = df[“col"].str.strip().str.upper()</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2B6054AD-2C11-4D59-AB86-FD0638FA61D8}" type="parTrans" cxnId="{344295D6-53B1-483F-88EA-51106B32F6C9}">
      <dgm:prSet/>
      <dgm:spPr/>
      <dgm:t>
        <a:bodyPr/>
        <a:lstStyle/>
        <a:p>
          <a:endParaRPr lang="en-IN"/>
        </a:p>
      </dgm:t>
    </dgm:pt>
    <dgm:pt modelId="{08AC0DB1-1C12-45D8-BDF0-D0522C3CB0B6}" type="sibTrans" cxnId="{344295D6-53B1-483F-88EA-51106B32F6C9}">
      <dgm:prSet/>
      <dgm:spPr/>
      <dgm:t>
        <a:bodyPr/>
        <a:lstStyle/>
        <a:p>
          <a:endParaRPr lang="en-IN"/>
        </a:p>
      </dgm:t>
    </dgm:pt>
    <dgm:pt modelId="{ECFEC54D-5494-450E-AD05-BE0C8FCEEFAA}">
      <dgm:prSet/>
      <dgm:spPr/>
      <dgm:t>
        <a:bodyPr/>
        <a:lstStyle/>
        <a:p>
          <a:r>
            <a:rPr lang="en-US" b="0" i="0" dirty="0"/>
            <a:t>Outliers Identification.</a:t>
          </a:r>
          <a:endParaRPr lang="en-IN" dirty="0"/>
        </a:p>
      </dgm:t>
    </dgm:pt>
    <dgm:pt modelId="{E478AEBA-62F7-49AB-8F8B-6257EC3F454B}" type="parTrans" cxnId="{7C2E800F-8919-48E4-9902-337A62FEEB71}">
      <dgm:prSet/>
      <dgm:spPr/>
      <dgm:t>
        <a:bodyPr/>
        <a:lstStyle/>
        <a:p>
          <a:endParaRPr lang="en-IN"/>
        </a:p>
      </dgm:t>
    </dgm:pt>
    <dgm:pt modelId="{817B5C0B-E661-49D7-936D-DBEA68A78440}" type="sibTrans" cxnId="{7C2E800F-8919-48E4-9902-337A62FEEB71}">
      <dgm:prSet/>
      <dgm:spPr/>
      <dgm:t>
        <a:bodyPr/>
        <a:lstStyle/>
        <a:p>
          <a:endParaRPr lang="en-IN"/>
        </a:p>
      </dgm:t>
    </dgm:pt>
    <dgm:pt modelId="{887D7DC4-549B-4E71-B615-4E1DD344F4CF}">
      <dgm:prSet custT="1"/>
      <dgm:spPr/>
      <dgm:t>
        <a:bodyPr/>
        <a:lstStyle/>
        <a:p>
          <a:r>
            <a:rPr lang="en-US" sz="1600" b="0" i="0">
              <a:latin typeface="Calibri" panose="020F0502020204030204" pitchFamily="34" charset="0"/>
              <a:ea typeface="Calibri" panose="020F0502020204030204" pitchFamily="34" charset="0"/>
              <a:cs typeface="Calibri" panose="020F0502020204030204" pitchFamily="34" charset="0"/>
            </a:rPr>
            <a:t>IQR</a:t>
          </a:r>
          <a:endParaRPr lang="en-IN" sz="1600">
            <a:latin typeface="Calibri" panose="020F0502020204030204" pitchFamily="34" charset="0"/>
            <a:ea typeface="Calibri" panose="020F0502020204030204" pitchFamily="34" charset="0"/>
            <a:cs typeface="Calibri" panose="020F0502020204030204" pitchFamily="34" charset="0"/>
          </a:endParaRPr>
        </a:p>
      </dgm:t>
    </dgm:pt>
    <dgm:pt modelId="{070ECE9F-6D10-4A8B-BA7C-44CC4023B6A3}" type="parTrans" cxnId="{CA8BA69A-47EA-4016-8FEA-5F2AC5BFB56D}">
      <dgm:prSet/>
      <dgm:spPr/>
      <dgm:t>
        <a:bodyPr/>
        <a:lstStyle/>
        <a:p>
          <a:endParaRPr lang="en-IN"/>
        </a:p>
      </dgm:t>
    </dgm:pt>
    <dgm:pt modelId="{158B6EE3-A882-4860-B8D1-C64C05F67689}" type="sibTrans" cxnId="{CA8BA69A-47EA-4016-8FEA-5F2AC5BFB56D}">
      <dgm:prSet/>
      <dgm:spPr/>
      <dgm:t>
        <a:bodyPr/>
        <a:lstStyle/>
        <a:p>
          <a:endParaRPr lang="en-IN"/>
        </a:p>
      </dgm:t>
    </dgm:pt>
    <dgm:pt modelId="{CE5E9F78-6A02-4695-BBCD-890CFEFFD9AA}">
      <dgm:prSet custT="1"/>
      <dgm:spPr/>
      <dgm:t>
        <a:bodyPr/>
        <a:lstStyle/>
        <a:p>
          <a:r>
            <a:rPr lang="en-US" sz="1600" b="0" i="0">
              <a:latin typeface="Calibri" panose="020F0502020204030204" pitchFamily="34" charset="0"/>
              <a:ea typeface="Calibri" panose="020F0502020204030204" pitchFamily="34" charset="0"/>
              <a:cs typeface="Calibri" panose="020F0502020204030204" pitchFamily="34" charset="0"/>
            </a:rPr>
            <a:t>Box plot method</a:t>
          </a:r>
          <a:endParaRPr lang="en-IN" sz="1600">
            <a:latin typeface="Calibri" panose="020F0502020204030204" pitchFamily="34" charset="0"/>
            <a:ea typeface="Calibri" panose="020F0502020204030204" pitchFamily="34" charset="0"/>
            <a:cs typeface="Calibri" panose="020F0502020204030204" pitchFamily="34" charset="0"/>
          </a:endParaRPr>
        </a:p>
      </dgm:t>
    </dgm:pt>
    <dgm:pt modelId="{47256CF5-70E7-478F-B04B-F5DCB7AFCA3C}" type="parTrans" cxnId="{EA047F55-63F0-4E10-8229-EA5D1BDA6003}">
      <dgm:prSet/>
      <dgm:spPr/>
      <dgm:t>
        <a:bodyPr/>
        <a:lstStyle/>
        <a:p>
          <a:endParaRPr lang="en-IN"/>
        </a:p>
      </dgm:t>
    </dgm:pt>
    <dgm:pt modelId="{AB45235B-2807-4A78-BD19-56307677C90F}" type="sibTrans" cxnId="{EA047F55-63F0-4E10-8229-EA5D1BDA6003}">
      <dgm:prSet/>
      <dgm:spPr/>
      <dgm:t>
        <a:bodyPr/>
        <a:lstStyle/>
        <a:p>
          <a:endParaRPr lang="en-IN"/>
        </a:p>
      </dgm:t>
    </dgm:pt>
    <dgm:pt modelId="{61BC5830-B54B-4B7E-B8FB-014A9DAFE04B}">
      <dgm:prSet custT="1"/>
      <dgm:spPr/>
      <dgm:t>
        <a:bodyPr/>
        <a:lstStyle/>
        <a:p>
          <a:r>
            <a:rPr lang="en-IN" sz="1600" b="0" i="0" dirty="0">
              <a:latin typeface="Calibri" panose="020F0502020204030204" pitchFamily="34" charset="0"/>
              <a:ea typeface="Calibri" panose="020F0502020204030204" pitchFamily="34" charset="0"/>
              <a:cs typeface="Calibri" panose="020F0502020204030204" pitchFamily="34" charset="0"/>
            </a:rPr>
            <a:t>df.duplicated().sum()</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2C1AC316-E7B9-4430-856B-99CA26041AA1}" type="sibTrans" cxnId="{10411B03-0F39-4CA3-941A-9FDEBF9B5A34}">
      <dgm:prSet/>
      <dgm:spPr/>
      <dgm:t>
        <a:bodyPr/>
        <a:lstStyle/>
        <a:p>
          <a:endParaRPr lang="en-IN"/>
        </a:p>
      </dgm:t>
    </dgm:pt>
    <dgm:pt modelId="{23395F5E-53F3-4497-B824-8189E0AC4F51}" type="parTrans" cxnId="{10411B03-0F39-4CA3-941A-9FDEBF9B5A34}">
      <dgm:prSet/>
      <dgm:spPr/>
      <dgm:t>
        <a:bodyPr/>
        <a:lstStyle/>
        <a:p>
          <a:endParaRPr lang="en-IN"/>
        </a:p>
      </dgm:t>
    </dgm:pt>
    <dgm:pt modelId="{F50A6103-F526-43A2-A53D-A6353557E091}">
      <dgm:prSet custT="1"/>
      <dgm:spPr/>
      <dgm:t>
        <a:bodyPr/>
        <a:lstStyle/>
        <a:p>
          <a:r>
            <a:rPr lang="en-IN" sz="1600" b="0" i="0" dirty="0">
              <a:latin typeface="Calibri" panose="020F0502020204030204" pitchFamily="34" charset="0"/>
              <a:ea typeface="Calibri" panose="020F0502020204030204" pitchFamily="34" charset="0"/>
              <a:cs typeface="Calibri" panose="020F0502020204030204" pitchFamily="34" charset="0"/>
            </a:rPr>
            <a:t>df=df.drop_duplicates()</a:t>
          </a:r>
          <a:endParaRPr lang="en-IN" sz="1600" dirty="0">
            <a:latin typeface="Calibri" panose="020F0502020204030204" pitchFamily="34" charset="0"/>
            <a:ea typeface="Calibri" panose="020F0502020204030204" pitchFamily="34" charset="0"/>
            <a:cs typeface="Calibri" panose="020F0502020204030204" pitchFamily="34" charset="0"/>
          </a:endParaRPr>
        </a:p>
      </dgm:t>
    </dgm:pt>
    <dgm:pt modelId="{2A2B0AC1-2FCC-4D25-A664-6C44E9E063BE}" type="sibTrans" cxnId="{95BD6F4E-26D6-4E80-A146-8B4A279DDD28}">
      <dgm:prSet/>
      <dgm:spPr/>
      <dgm:t>
        <a:bodyPr/>
        <a:lstStyle/>
        <a:p>
          <a:endParaRPr lang="en-IN"/>
        </a:p>
      </dgm:t>
    </dgm:pt>
    <dgm:pt modelId="{719A5B52-F4E0-4141-BDC3-D487CF4E9E09}" type="parTrans" cxnId="{95BD6F4E-26D6-4E80-A146-8B4A279DDD28}">
      <dgm:prSet/>
      <dgm:spPr/>
      <dgm:t>
        <a:bodyPr/>
        <a:lstStyle/>
        <a:p>
          <a:endParaRPr lang="en-IN"/>
        </a:p>
      </dgm:t>
    </dgm:pt>
    <dgm:pt modelId="{47319CA2-38BA-4413-91A1-1E6CCBA63F7C}" type="pres">
      <dgm:prSet presAssocID="{8A46BB4D-E2C6-4C1C-85A6-9DDA90802CFE}" presName="Name0" presStyleCnt="0">
        <dgm:presLayoutVars>
          <dgm:dir/>
          <dgm:animLvl val="lvl"/>
          <dgm:resizeHandles val="exact"/>
        </dgm:presLayoutVars>
      </dgm:prSet>
      <dgm:spPr/>
    </dgm:pt>
    <dgm:pt modelId="{B858FD7A-B220-45D7-8B79-1E4150F4F8C1}" type="pres">
      <dgm:prSet presAssocID="{B5B0B1C2-EDF4-411B-9FC4-E86404175CA9}" presName="linNode" presStyleCnt="0"/>
      <dgm:spPr/>
    </dgm:pt>
    <dgm:pt modelId="{F1203A64-5911-4299-AFC3-669D46DA3406}" type="pres">
      <dgm:prSet presAssocID="{B5B0B1C2-EDF4-411B-9FC4-E86404175CA9}" presName="parentText" presStyleLbl="node1" presStyleIdx="0" presStyleCnt="5">
        <dgm:presLayoutVars>
          <dgm:chMax val="1"/>
          <dgm:bulletEnabled val="1"/>
        </dgm:presLayoutVars>
      </dgm:prSet>
      <dgm:spPr/>
    </dgm:pt>
    <dgm:pt modelId="{5B7E3C84-319F-4026-BF80-75CF53BD51AC}" type="pres">
      <dgm:prSet presAssocID="{B5B0B1C2-EDF4-411B-9FC4-E86404175CA9}" presName="descendantText" presStyleLbl="alignAccFollowNode1" presStyleIdx="0" presStyleCnt="5">
        <dgm:presLayoutVars>
          <dgm:bulletEnabled val="1"/>
        </dgm:presLayoutVars>
      </dgm:prSet>
      <dgm:spPr/>
    </dgm:pt>
    <dgm:pt modelId="{CC42CC05-6AA6-4040-9EE2-E402BECF9DA7}" type="pres">
      <dgm:prSet presAssocID="{C91D8BA4-5C65-406E-B8B4-8FE120148DB0}" presName="sp" presStyleCnt="0"/>
      <dgm:spPr/>
    </dgm:pt>
    <dgm:pt modelId="{D01748CB-EDAF-4AB3-ADC4-5F9FFC2D226C}" type="pres">
      <dgm:prSet presAssocID="{3BCDE0C5-B972-46A2-A50E-5AE8085A9AAB}" presName="linNode" presStyleCnt="0"/>
      <dgm:spPr/>
    </dgm:pt>
    <dgm:pt modelId="{AA1757C3-C85F-486D-B09D-CDE65BB79FE6}" type="pres">
      <dgm:prSet presAssocID="{3BCDE0C5-B972-46A2-A50E-5AE8085A9AAB}" presName="parentText" presStyleLbl="node1" presStyleIdx="1" presStyleCnt="5">
        <dgm:presLayoutVars>
          <dgm:chMax val="1"/>
          <dgm:bulletEnabled val="1"/>
        </dgm:presLayoutVars>
      </dgm:prSet>
      <dgm:spPr/>
    </dgm:pt>
    <dgm:pt modelId="{990FA89F-73EE-454A-9624-EBAD27C1E276}" type="pres">
      <dgm:prSet presAssocID="{3BCDE0C5-B972-46A2-A50E-5AE8085A9AAB}" presName="descendantText" presStyleLbl="alignAccFollowNode1" presStyleIdx="1" presStyleCnt="5" custScaleY="160400" custLinFactNeighborX="294" custLinFactNeighborY="1211">
        <dgm:presLayoutVars>
          <dgm:bulletEnabled val="1"/>
        </dgm:presLayoutVars>
      </dgm:prSet>
      <dgm:spPr/>
    </dgm:pt>
    <dgm:pt modelId="{8EEF9CDA-8F74-40D1-AF17-BAF3029DA905}" type="pres">
      <dgm:prSet presAssocID="{4B5789A5-4ECC-4556-96D4-FDFC1327C111}" presName="sp" presStyleCnt="0"/>
      <dgm:spPr/>
    </dgm:pt>
    <dgm:pt modelId="{4C3D079F-ED70-4F8F-A6AF-0AA75FD58D6F}" type="pres">
      <dgm:prSet presAssocID="{4AEEDBA0-4E70-4768-83A5-CA9F4EAC0974}" presName="linNode" presStyleCnt="0"/>
      <dgm:spPr/>
    </dgm:pt>
    <dgm:pt modelId="{5772E52C-4643-4B43-86B3-B544A1F9AC95}" type="pres">
      <dgm:prSet presAssocID="{4AEEDBA0-4E70-4768-83A5-CA9F4EAC0974}" presName="parentText" presStyleLbl="node1" presStyleIdx="2" presStyleCnt="5">
        <dgm:presLayoutVars>
          <dgm:chMax val="1"/>
          <dgm:bulletEnabled val="1"/>
        </dgm:presLayoutVars>
      </dgm:prSet>
      <dgm:spPr/>
    </dgm:pt>
    <dgm:pt modelId="{49784F19-F1BF-4C72-84DF-8D09432CA9A0}" type="pres">
      <dgm:prSet presAssocID="{4AEEDBA0-4E70-4768-83A5-CA9F4EAC0974}" presName="descendantText" presStyleLbl="alignAccFollowNode1" presStyleIdx="2" presStyleCnt="5">
        <dgm:presLayoutVars>
          <dgm:bulletEnabled val="1"/>
        </dgm:presLayoutVars>
      </dgm:prSet>
      <dgm:spPr/>
    </dgm:pt>
    <dgm:pt modelId="{6F4FDA65-6C70-498E-B683-4281CFBEAEED}" type="pres">
      <dgm:prSet presAssocID="{8FD1CA57-728B-4884-B38A-6CA3D25D90DF}" presName="sp" presStyleCnt="0"/>
      <dgm:spPr/>
    </dgm:pt>
    <dgm:pt modelId="{3F24D563-28B0-4EEE-95B1-7C9EA350DD21}" type="pres">
      <dgm:prSet presAssocID="{5C367978-7BCF-4D5A-9917-4B44321B8BCE}" presName="linNode" presStyleCnt="0"/>
      <dgm:spPr/>
    </dgm:pt>
    <dgm:pt modelId="{0C40D3B4-259E-4860-AC1F-8CE8A322113E}" type="pres">
      <dgm:prSet presAssocID="{5C367978-7BCF-4D5A-9917-4B44321B8BCE}" presName="parentText" presStyleLbl="node1" presStyleIdx="3" presStyleCnt="5">
        <dgm:presLayoutVars>
          <dgm:chMax val="1"/>
          <dgm:bulletEnabled val="1"/>
        </dgm:presLayoutVars>
      </dgm:prSet>
      <dgm:spPr/>
    </dgm:pt>
    <dgm:pt modelId="{81008823-731D-4880-B0F9-4676B510F50B}" type="pres">
      <dgm:prSet presAssocID="{5C367978-7BCF-4D5A-9917-4B44321B8BCE}" presName="descendantText" presStyleLbl="alignAccFollowNode1" presStyleIdx="3" presStyleCnt="5">
        <dgm:presLayoutVars>
          <dgm:bulletEnabled val="1"/>
        </dgm:presLayoutVars>
      </dgm:prSet>
      <dgm:spPr/>
    </dgm:pt>
    <dgm:pt modelId="{319392B5-8EA9-4AEA-9F86-66624173AE19}" type="pres">
      <dgm:prSet presAssocID="{020EEF0E-3721-44B1-9345-AE3BFBCDF94E}" presName="sp" presStyleCnt="0"/>
      <dgm:spPr/>
    </dgm:pt>
    <dgm:pt modelId="{6B5FA171-AFA2-4EBC-8203-E737971D3317}" type="pres">
      <dgm:prSet presAssocID="{ECFEC54D-5494-450E-AD05-BE0C8FCEEFAA}" presName="linNode" presStyleCnt="0"/>
      <dgm:spPr/>
    </dgm:pt>
    <dgm:pt modelId="{DBF297FE-C4B4-423F-9DA4-F8EAF361D3A2}" type="pres">
      <dgm:prSet presAssocID="{ECFEC54D-5494-450E-AD05-BE0C8FCEEFAA}" presName="parentText" presStyleLbl="node1" presStyleIdx="4" presStyleCnt="5">
        <dgm:presLayoutVars>
          <dgm:chMax val="1"/>
          <dgm:bulletEnabled val="1"/>
        </dgm:presLayoutVars>
      </dgm:prSet>
      <dgm:spPr/>
    </dgm:pt>
    <dgm:pt modelId="{613ABC0A-61F2-4D7C-B2FE-0B86A061EDDC}" type="pres">
      <dgm:prSet presAssocID="{ECFEC54D-5494-450E-AD05-BE0C8FCEEFAA}" presName="descendantText" presStyleLbl="alignAccFollowNode1" presStyleIdx="4" presStyleCnt="5">
        <dgm:presLayoutVars>
          <dgm:bulletEnabled val="1"/>
        </dgm:presLayoutVars>
      </dgm:prSet>
      <dgm:spPr/>
    </dgm:pt>
  </dgm:ptLst>
  <dgm:cxnLst>
    <dgm:cxn modelId="{10411B03-0F39-4CA3-941A-9FDEBF9B5A34}" srcId="{B5B0B1C2-EDF4-411B-9FC4-E86404175CA9}" destId="{61BC5830-B54B-4B7E-B8FB-014A9DAFE04B}" srcOrd="0" destOrd="0" parTransId="{23395F5E-53F3-4497-B824-8189E0AC4F51}" sibTransId="{2C1AC316-E7B9-4430-856B-99CA26041AA1}"/>
    <dgm:cxn modelId="{7C2E800F-8919-48E4-9902-337A62FEEB71}" srcId="{8A46BB4D-E2C6-4C1C-85A6-9DDA90802CFE}" destId="{ECFEC54D-5494-450E-AD05-BE0C8FCEEFAA}" srcOrd="4" destOrd="0" parTransId="{E478AEBA-62F7-49AB-8F8B-6257EC3F454B}" sibTransId="{817B5C0B-E661-49D7-936D-DBEA68A78440}"/>
    <dgm:cxn modelId="{EC90EF1C-936B-491A-9EAA-F2E35E5B937A}" type="presOf" srcId="{9D64077F-8E39-429D-9DFA-95759781EB5B}" destId="{990FA89F-73EE-454A-9624-EBAD27C1E276}" srcOrd="0" destOrd="1" presId="urn:microsoft.com/office/officeart/2005/8/layout/vList5"/>
    <dgm:cxn modelId="{84BBA71D-AE4F-4544-8406-BDCBDAFD7ADA}" type="presOf" srcId="{8A46BB4D-E2C6-4C1C-85A6-9DDA90802CFE}" destId="{47319CA2-38BA-4413-91A1-1E6CCBA63F7C}" srcOrd="0" destOrd="0" presId="urn:microsoft.com/office/officeart/2005/8/layout/vList5"/>
    <dgm:cxn modelId="{F732221E-CAEF-46E8-B0E0-668AF39A3665}" srcId="{3BCDE0C5-B972-46A2-A50E-5AE8085A9AAB}" destId="{09402412-4F4F-4FEE-8C70-B814DCEE29A8}" srcOrd="4" destOrd="0" parTransId="{F612E049-41D9-4B4E-8FA2-83C2F812AC26}" sibTransId="{12FB04CD-28CF-4DBC-8AB5-4015CFADA1D6}"/>
    <dgm:cxn modelId="{04B26E1E-CDC7-4C95-AABF-39118BF8996E}" type="presOf" srcId="{09402412-4F4F-4FEE-8C70-B814DCEE29A8}" destId="{990FA89F-73EE-454A-9624-EBAD27C1E276}" srcOrd="0" destOrd="4" presId="urn:microsoft.com/office/officeart/2005/8/layout/vList5"/>
    <dgm:cxn modelId="{E15E3426-E6B1-4A2A-96F9-4C8DC9067C83}" type="presOf" srcId="{0D3201F6-0579-436B-A050-DBB6C3623D53}" destId="{990FA89F-73EE-454A-9624-EBAD27C1E276}" srcOrd="0" destOrd="0" presId="urn:microsoft.com/office/officeart/2005/8/layout/vList5"/>
    <dgm:cxn modelId="{212D6A28-80FE-42A3-9ED9-A9D76F72D5D3}" type="presOf" srcId="{B5B0B1C2-EDF4-411B-9FC4-E86404175CA9}" destId="{F1203A64-5911-4299-AFC3-669D46DA3406}" srcOrd="0" destOrd="0" presId="urn:microsoft.com/office/officeart/2005/8/layout/vList5"/>
    <dgm:cxn modelId="{AD703C31-BA36-46B5-8096-BB9218B3F093}" srcId="{4AEEDBA0-4E70-4768-83A5-CA9F4EAC0974}" destId="{49A5FDDB-A752-496E-B1F9-6743571D261D}" srcOrd="1" destOrd="0" parTransId="{644603C5-1201-4459-B871-E3825050F2A5}" sibTransId="{A6F72ABC-9E61-4B90-AD58-9F664F4F615B}"/>
    <dgm:cxn modelId="{D72DC23B-17E6-4798-B817-815ECE27A277}" srcId="{8A46BB4D-E2C6-4C1C-85A6-9DDA90802CFE}" destId="{3BCDE0C5-B972-46A2-A50E-5AE8085A9AAB}" srcOrd="1" destOrd="0" parTransId="{A52C7882-9924-4DDD-8004-80C171270B77}" sibTransId="{4B5789A5-4ECC-4556-96D4-FDFC1327C111}"/>
    <dgm:cxn modelId="{97FA3F3C-2BFE-4EB8-B278-BC3F9295A521}" srcId="{8A46BB4D-E2C6-4C1C-85A6-9DDA90802CFE}" destId="{4AEEDBA0-4E70-4768-83A5-CA9F4EAC0974}" srcOrd="2" destOrd="0" parTransId="{614D9E65-27D7-471F-A853-8325AD5D2DD3}" sibTransId="{8FD1CA57-728B-4884-B38A-6CA3D25D90DF}"/>
    <dgm:cxn modelId="{08E4883C-D106-4323-8782-F4C78CF7C177}" srcId="{3BCDE0C5-B972-46A2-A50E-5AE8085A9AAB}" destId="{0D3201F6-0579-436B-A050-DBB6C3623D53}" srcOrd="0" destOrd="0" parTransId="{FFC2ADD2-A834-4E97-A2F0-1F699FBE2EC5}" sibTransId="{F421BD85-D38F-4B6D-BA87-CE3F9E723E03}"/>
    <dgm:cxn modelId="{06B1B95E-7D3E-4DD6-963A-E2BCF282F896}" type="presOf" srcId="{6655148C-D11E-470A-980B-8D2F0EAC5D1C}" destId="{990FA89F-73EE-454A-9624-EBAD27C1E276}" srcOrd="0" destOrd="2" presId="urn:microsoft.com/office/officeart/2005/8/layout/vList5"/>
    <dgm:cxn modelId="{A5454661-1567-450A-858F-CDE6BC967F82}" type="presOf" srcId="{49A5FDDB-A752-496E-B1F9-6743571D261D}" destId="{49784F19-F1BF-4C72-84DF-8D09432CA9A0}" srcOrd="0" destOrd="1" presId="urn:microsoft.com/office/officeart/2005/8/layout/vList5"/>
    <dgm:cxn modelId="{D3FE276A-C184-4E90-A5C5-2527671E283F}" type="presOf" srcId="{F50A6103-F526-43A2-A53D-A6353557E091}" destId="{5B7E3C84-319F-4026-BF80-75CF53BD51AC}" srcOrd="0" destOrd="1" presId="urn:microsoft.com/office/officeart/2005/8/layout/vList5"/>
    <dgm:cxn modelId="{CAB9824C-BEF9-4F8D-B982-817778BB7CFE}" srcId="{8A46BB4D-E2C6-4C1C-85A6-9DDA90802CFE}" destId="{B5B0B1C2-EDF4-411B-9FC4-E86404175CA9}" srcOrd="0" destOrd="0" parTransId="{6F910E4C-DBB8-47A2-8516-AA9C95DEBFFD}" sibTransId="{C91D8BA4-5C65-406E-B8B4-8FE120148DB0}"/>
    <dgm:cxn modelId="{95B3DD6C-4FE3-47F7-940B-F80E95EFD46F}" type="presOf" srcId="{3BCDE0C5-B972-46A2-A50E-5AE8085A9AAB}" destId="{AA1757C3-C85F-486D-B09D-CDE65BB79FE6}" srcOrd="0" destOrd="0" presId="urn:microsoft.com/office/officeart/2005/8/layout/vList5"/>
    <dgm:cxn modelId="{D5DAB86D-1CBA-4CE2-8FFC-1D6CDD4C9A51}" type="presOf" srcId="{A9A65AA4-8898-4373-BAF8-8E07CA3D9B3A}" destId="{990FA89F-73EE-454A-9624-EBAD27C1E276}" srcOrd="0" destOrd="3" presId="urn:microsoft.com/office/officeart/2005/8/layout/vList5"/>
    <dgm:cxn modelId="{95BD6F4E-26D6-4E80-A146-8B4A279DDD28}" srcId="{B5B0B1C2-EDF4-411B-9FC4-E86404175CA9}" destId="{F50A6103-F526-43A2-A53D-A6353557E091}" srcOrd="1" destOrd="0" parTransId="{719A5B52-F4E0-4141-BDC3-D487CF4E9E09}" sibTransId="{2A2B0AC1-2FCC-4D25-A664-6C44E9E063BE}"/>
    <dgm:cxn modelId="{EA047F55-63F0-4E10-8229-EA5D1BDA6003}" srcId="{ECFEC54D-5494-450E-AD05-BE0C8FCEEFAA}" destId="{CE5E9F78-6A02-4695-BBCD-890CFEFFD9AA}" srcOrd="1" destOrd="0" parTransId="{47256CF5-70E7-478F-B04B-F5DCB7AFCA3C}" sibTransId="{AB45235B-2807-4A78-BD19-56307677C90F}"/>
    <dgm:cxn modelId="{068D8E59-C1C5-41F7-B5B3-2524064836F9}" srcId="{3BCDE0C5-B972-46A2-A50E-5AE8085A9AAB}" destId="{6655148C-D11E-470A-980B-8D2F0EAC5D1C}" srcOrd="2" destOrd="0" parTransId="{55979562-B8B1-4C89-B2F9-F62B0418B5E7}" sibTransId="{C5A32728-70B4-4D49-B22F-7D53550DA246}"/>
    <dgm:cxn modelId="{8A609E82-9E1F-49DC-A7DA-0DB431A1D79A}" srcId="{8A46BB4D-E2C6-4C1C-85A6-9DDA90802CFE}" destId="{5C367978-7BCF-4D5A-9917-4B44321B8BCE}" srcOrd="3" destOrd="0" parTransId="{46123160-EBB4-4A59-8A2F-073BF3F294EB}" sibTransId="{020EEF0E-3721-44B1-9345-AE3BFBCDF94E}"/>
    <dgm:cxn modelId="{0732228E-36D8-4BE2-A713-D20CEFD818E1}" type="presOf" srcId="{724CF36E-04CB-4CDA-96E0-5162B88EA442}" destId="{81008823-731D-4880-B0F9-4676B510F50B}" srcOrd="0" destOrd="0" presId="urn:microsoft.com/office/officeart/2005/8/layout/vList5"/>
    <dgm:cxn modelId="{CA8BA69A-47EA-4016-8FEA-5F2AC5BFB56D}" srcId="{ECFEC54D-5494-450E-AD05-BE0C8FCEEFAA}" destId="{887D7DC4-549B-4E71-B615-4E1DD344F4CF}" srcOrd="0" destOrd="0" parTransId="{070ECE9F-6D10-4A8B-BA7C-44CC4023B6A3}" sibTransId="{158B6EE3-A882-4860-B8D1-C64C05F67689}"/>
    <dgm:cxn modelId="{BCACC3AE-07DD-4D24-B659-FE175E52CF4B}" type="presOf" srcId="{61BC5830-B54B-4B7E-B8FB-014A9DAFE04B}" destId="{5B7E3C84-319F-4026-BF80-75CF53BD51AC}" srcOrd="0" destOrd="0" presId="urn:microsoft.com/office/officeart/2005/8/layout/vList5"/>
    <dgm:cxn modelId="{B423A8C4-4DA0-423A-8F65-134D20D783F8}" type="presOf" srcId="{3C6AEF9C-B369-4A30-AD13-14F8DD5CF7DC}" destId="{49784F19-F1BF-4C72-84DF-8D09432CA9A0}" srcOrd="0" destOrd="0" presId="urn:microsoft.com/office/officeart/2005/8/layout/vList5"/>
    <dgm:cxn modelId="{7A1225C5-E51B-4DF3-BF89-1EF7FE59F287}" srcId="{3BCDE0C5-B972-46A2-A50E-5AE8085A9AAB}" destId="{9D64077F-8E39-429D-9DFA-95759781EB5B}" srcOrd="1" destOrd="0" parTransId="{6094CF7B-369E-4285-9DE8-1A2FC0DB8002}" sibTransId="{3C33688B-8BD2-45AD-AAB6-5B21D28ACDC1}"/>
    <dgm:cxn modelId="{CCA592D4-BCAC-4C83-95A4-1368CFE42DF9}" type="presOf" srcId="{5C367978-7BCF-4D5A-9917-4B44321B8BCE}" destId="{0C40D3B4-259E-4860-AC1F-8CE8A322113E}" srcOrd="0" destOrd="0" presId="urn:microsoft.com/office/officeart/2005/8/layout/vList5"/>
    <dgm:cxn modelId="{9FC9F9D5-474E-43A2-A28A-B4EF492FB099}" type="presOf" srcId="{4AEEDBA0-4E70-4768-83A5-CA9F4EAC0974}" destId="{5772E52C-4643-4B43-86B3-B544A1F9AC95}" srcOrd="0" destOrd="0" presId="urn:microsoft.com/office/officeart/2005/8/layout/vList5"/>
    <dgm:cxn modelId="{344295D6-53B1-483F-88EA-51106B32F6C9}" srcId="{5C367978-7BCF-4D5A-9917-4B44321B8BCE}" destId="{724CF36E-04CB-4CDA-96E0-5162B88EA442}" srcOrd="0" destOrd="0" parTransId="{2B6054AD-2C11-4D59-AB86-FD0638FA61D8}" sibTransId="{08AC0DB1-1C12-45D8-BDF0-D0522C3CB0B6}"/>
    <dgm:cxn modelId="{BD029BD7-723D-4B19-8D10-07E186F48DFE}" type="presOf" srcId="{887D7DC4-549B-4E71-B615-4E1DD344F4CF}" destId="{613ABC0A-61F2-4D7C-B2FE-0B86A061EDDC}" srcOrd="0" destOrd="0" presId="urn:microsoft.com/office/officeart/2005/8/layout/vList5"/>
    <dgm:cxn modelId="{9360FFE9-3B78-4E59-8101-698450A0D09B}" type="presOf" srcId="{ECFEC54D-5494-450E-AD05-BE0C8FCEEFAA}" destId="{DBF297FE-C4B4-423F-9DA4-F8EAF361D3A2}" srcOrd="0" destOrd="0" presId="urn:microsoft.com/office/officeart/2005/8/layout/vList5"/>
    <dgm:cxn modelId="{6EEAD9EF-760D-4C38-98CB-5406C80ED82F}" type="presOf" srcId="{CE5E9F78-6A02-4695-BBCD-890CFEFFD9AA}" destId="{613ABC0A-61F2-4D7C-B2FE-0B86A061EDDC}" srcOrd="0" destOrd="1" presId="urn:microsoft.com/office/officeart/2005/8/layout/vList5"/>
    <dgm:cxn modelId="{D6FA8EF8-E06A-4F6E-A630-CF37EAEF92F9}" srcId="{3BCDE0C5-B972-46A2-A50E-5AE8085A9AAB}" destId="{A9A65AA4-8898-4373-BAF8-8E07CA3D9B3A}" srcOrd="3" destOrd="0" parTransId="{24BEAFB2-0E78-479F-BFCE-14049E070D98}" sibTransId="{8A48403A-C9C9-4BB3-932B-B17F4D2E47AD}"/>
    <dgm:cxn modelId="{9B9620FC-ABF1-47E1-A845-2AD7CDDBE3B3}" srcId="{4AEEDBA0-4E70-4768-83A5-CA9F4EAC0974}" destId="{3C6AEF9C-B369-4A30-AD13-14F8DD5CF7DC}" srcOrd="0" destOrd="0" parTransId="{C58AD6E5-9835-42C1-8214-DA5FA2ECAD29}" sibTransId="{6FDCE10C-1C06-4496-AB84-C38179D88BF4}"/>
    <dgm:cxn modelId="{B9BFE80D-459C-478A-92D9-941DF08B165B}" type="presParOf" srcId="{47319CA2-38BA-4413-91A1-1E6CCBA63F7C}" destId="{B858FD7A-B220-45D7-8B79-1E4150F4F8C1}" srcOrd="0" destOrd="0" presId="urn:microsoft.com/office/officeart/2005/8/layout/vList5"/>
    <dgm:cxn modelId="{300A85ED-F287-4CE6-986B-77AFD60579AC}" type="presParOf" srcId="{B858FD7A-B220-45D7-8B79-1E4150F4F8C1}" destId="{F1203A64-5911-4299-AFC3-669D46DA3406}" srcOrd="0" destOrd="0" presId="urn:microsoft.com/office/officeart/2005/8/layout/vList5"/>
    <dgm:cxn modelId="{2DBD72CD-57B0-47BE-9E56-B2001A81682D}" type="presParOf" srcId="{B858FD7A-B220-45D7-8B79-1E4150F4F8C1}" destId="{5B7E3C84-319F-4026-BF80-75CF53BD51AC}" srcOrd="1" destOrd="0" presId="urn:microsoft.com/office/officeart/2005/8/layout/vList5"/>
    <dgm:cxn modelId="{7872760C-1579-472A-AA1A-93B4CC0E49F4}" type="presParOf" srcId="{47319CA2-38BA-4413-91A1-1E6CCBA63F7C}" destId="{CC42CC05-6AA6-4040-9EE2-E402BECF9DA7}" srcOrd="1" destOrd="0" presId="urn:microsoft.com/office/officeart/2005/8/layout/vList5"/>
    <dgm:cxn modelId="{C992B6A7-970A-49A8-AC9C-A5321CDBEDEF}" type="presParOf" srcId="{47319CA2-38BA-4413-91A1-1E6CCBA63F7C}" destId="{D01748CB-EDAF-4AB3-ADC4-5F9FFC2D226C}" srcOrd="2" destOrd="0" presId="urn:microsoft.com/office/officeart/2005/8/layout/vList5"/>
    <dgm:cxn modelId="{C592D408-F635-47BE-A1C0-6C37F5EEBA56}" type="presParOf" srcId="{D01748CB-EDAF-4AB3-ADC4-5F9FFC2D226C}" destId="{AA1757C3-C85F-486D-B09D-CDE65BB79FE6}" srcOrd="0" destOrd="0" presId="urn:microsoft.com/office/officeart/2005/8/layout/vList5"/>
    <dgm:cxn modelId="{B1F141F7-55A6-4423-9A52-F85B89C31C4F}" type="presParOf" srcId="{D01748CB-EDAF-4AB3-ADC4-5F9FFC2D226C}" destId="{990FA89F-73EE-454A-9624-EBAD27C1E276}" srcOrd="1" destOrd="0" presId="urn:microsoft.com/office/officeart/2005/8/layout/vList5"/>
    <dgm:cxn modelId="{636B4547-22E8-465C-B845-674DEFD10F7C}" type="presParOf" srcId="{47319CA2-38BA-4413-91A1-1E6CCBA63F7C}" destId="{8EEF9CDA-8F74-40D1-AF17-BAF3029DA905}" srcOrd="3" destOrd="0" presId="urn:microsoft.com/office/officeart/2005/8/layout/vList5"/>
    <dgm:cxn modelId="{4E9F74D2-41E8-4588-B4F6-B8B9104ECB39}" type="presParOf" srcId="{47319CA2-38BA-4413-91A1-1E6CCBA63F7C}" destId="{4C3D079F-ED70-4F8F-A6AF-0AA75FD58D6F}" srcOrd="4" destOrd="0" presId="urn:microsoft.com/office/officeart/2005/8/layout/vList5"/>
    <dgm:cxn modelId="{4C9768AA-5CDB-4226-81DF-B01CD7F03123}" type="presParOf" srcId="{4C3D079F-ED70-4F8F-A6AF-0AA75FD58D6F}" destId="{5772E52C-4643-4B43-86B3-B544A1F9AC95}" srcOrd="0" destOrd="0" presId="urn:microsoft.com/office/officeart/2005/8/layout/vList5"/>
    <dgm:cxn modelId="{A51D8E3C-DE87-4A9A-B14F-310F9E8D990E}" type="presParOf" srcId="{4C3D079F-ED70-4F8F-A6AF-0AA75FD58D6F}" destId="{49784F19-F1BF-4C72-84DF-8D09432CA9A0}" srcOrd="1" destOrd="0" presId="urn:microsoft.com/office/officeart/2005/8/layout/vList5"/>
    <dgm:cxn modelId="{DEBF357E-2EEA-4CCE-BE45-E0E330C87CE2}" type="presParOf" srcId="{47319CA2-38BA-4413-91A1-1E6CCBA63F7C}" destId="{6F4FDA65-6C70-498E-B683-4281CFBEAEED}" srcOrd="5" destOrd="0" presId="urn:microsoft.com/office/officeart/2005/8/layout/vList5"/>
    <dgm:cxn modelId="{BCAA1AB7-9B41-4017-805F-8766EFB0FF1F}" type="presParOf" srcId="{47319CA2-38BA-4413-91A1-1E6CCBA63F7C}" destId="{3F24D563-28B0-4EEE-95B1-7C9EA350DD21}" srcOrd="6" destOrd="0" presId="urn:microsoft.com/office/officeart/2005/8/layout/vList5"/>
    <dgm:cxn modelId="{F6B3DDA5-BFC3-4271-9C6E-FA0398806BB2}" type="presParOf" srcId="{3F24D563-28B0-4EEE-95B1-7C9EA350DD21}" destId="{0C40D3B4-259E-4860-AC1F-8CE8A322113E}" srcOrd="0" destOrd="0" presId="urn:microsoft.com/office/officeart/2005/8/layout/vList5"/>
    <dgm:cxn modelId="{112A4667-259F-4543-B5F4-D348AA0EF447}" type="presParOf" srcId="{3F24D563-28B0-4EEE-95B1-7C9EA350DD21}" destId="{81008823-731D-4880-B0F9-4676B510F50B}" srcOrd="1" destOrd="0" presId="urn:microsoft.com/office/officeart/2005/8/layout/vList5"/>
    <dgm:cxn modelId="{AF5C569E-F9D4-4470-8996-FAED038991C6}" type="presParOf" srcId="{47319CA2-38BA-4413-91A1-1E6CCBA63F7C}" destId="{319392B5-8EA9-4AEA-9F86-66624173AE19}" srcOrd="7" destOrd="0" presId="urn:microsoft.com/office/officeart/2005/8/layout/vList5"/>
    <dgm:cxn modelId="{C58FA4CB-E788-4923-BDE2-07124EA0C8F0}" type="presParOf" srcId="{47319CA2-38BA-4413-91A1-1E6CCBA63F7C}" destId="{6B5FA171-AFA2-4EBC-8203-E737971D3317}" srcOrd="8" destOrd="0" presId="urn:microsoft.com/office/officeart/2005/8/layout/vList5"/>
    <dgm:cxn modelId="{C5CDC592-E5AD-46B8-9180-4D7B0F1D5C80}" type="presParOf" srcId="{6B5FA171-AFA2-4EBC-8203-E737971D3317}" destId="{DBF297FE-C4B4-423F-9DA4-F8EAF361D3A2}" srcOrd="0" destOrd="0" presId="urn:microsoft.com/office/officeart/2005/8/layout/vList5"/>
    <dgm:cxn modelId="{6AF2EC2C-8553-4F88-9207-CE97FBD31F74}" type="presParOf" srcId="{6B5FA171-AFA2-4EBC-8203-E737971D3317}" destId="{613ABC0A-61F2-4D7C-B2FE-0B86A061EDD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7E3C84-319F-4026-BF80-75CF53BD51AC}">
      <dsp:nvSpPr>
        <dsp:cNvPr id="0" name=""/>
        <dsp:cNvSpPr/>
      </dsp:nvSpPr>
      <dsp:spPr>
        <a:xfrm rot="5400000">
          <a:off x="5932266" y="-2475180"/>
          <a:ext cx="811999" cy="596542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b="0" i="0" kern="1200" dirty="0">
              <a:latin typeface="Calibri" panose="020F0502020204030204" pitchFamily="34" charset="0"/>
              <a:ea typeface="Calibri" panose="020F0502020204030204" pitchFamily="34" charset="0"/>
              <a:cs typeface="Calibri" panose="020F0502020204030204" pitchFamily="34" charset="0"/>
            </a:rPr>
            <a:t>df.duplicated().sum()</a:t>
          </a:r>
          <a:endParaRPr lang="en-IN" sz="1600" kern="1200" dirty="0">
            <a:latin typeface="Calibri" panose="020F0502020204030204" pitchFamily="34" charset="0"/>
            <a:ea typeface="Calibri" panose="020F0502020204030204" pitchFamily="34" charset="0"/>
            <a:cs typeface="Calibri" panose="020F0502020204030204" pitchFamily="34" charset="0"/>
          </a:endParaRPr>
        </a:p>
        <a:p>
          <a:pPr marL="171450" lvl="1" indent="-171450" algn="l" defTabSz="711200">
            <a:lnSpc>
              <a:spcPct val="90000"/>
            </a:lnSpc>
            <a:spcBef>
              <a:spcPct val="0"/>
            </a:spcBef>
            <a:spcAft>
              <a:spcPct val="15000"/>
            </a:spcAft>
            <a:buChar char="•"/>
          </a:pPr>
          <a:r>
            <a:rPr lang="en-IN" sz="1600" b="0" i="0" kern="1200" dirty="0">
              <a:latin typeface="Calibri" panose="020F0502020204030204" pitchFamily="34" charset="0"/>
              <a:ea typeface="Calibri" panose="020F0502020204030204" pitchFamily="34" charset="0"/>
              <a:cs typeface="Calibri" panose="020F0502020204030204" pitchFamily="34" charset="0"/>
            </a:rPr>
            <a:t>df=df.drop_duplicates()</a:t>
          </a:r>
          <a:endParaRPr lang="en-IN" sz="16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3355553" y="141172"/>
        <a:ext cx="5925788" cy="732721"/>
      </dsp:txXfrm>
    </dsp:sp>
    <dsp:sp modelId="{F1203A64-5911-4299-AFC3-669D46DA3406}">
      <dsp:nvSpPr>
        <dsp:cNvPr id="0" name=""/>
        <dsp:cNvSpPr/>
      </dsp:nvSpPr>
      <dsp:spPr>
        <a:xfrm>
          <a:off x="0" y="33"/>
          <a:ext cx="3355552" cy="10149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i="0" kern="1200" dirty="0"/>
            <a:t>Drop Duplicates</a:t>
          </a:r>
          <a:endParaRPr lang="en-IN" sz="2200" kern="1200" dirty="0"/>
        </a:p>
      </dsp:txBody>
      <dsp:txXfrm>
        <a:off x="49548" y="49581"/>
        <a:ext cx="3256456" cy="915902"/>
      </dsp:txXfrm>
    </dsp:sp>
    <dsp:sp modelId="{990FA89F-73EE-454A-9624-EBAD27C1E276}">
      <dsp:nvSpPr>
        <dsp:cNvPr id="0" name=""/>
        <dsp:cNvSpPr/>
      </dsp:nvSpPr>
      <dsp:spPr>
        <a:xfrm rot="5400000">
          <a:off x="5684515" y="-1250051"/>
          <a:ext cx="1302446" cy="595378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latin typeface="Calibri" panose="020F0502020204030204" pitchFamily="34" charset="0"/>
              <a:ea typeface="Calibri" panose="020F0502020204030204" pitchFamily="34" charset="0"/>
              <a:cs typeface="Calibri" panose="020F0502020204030204" pitchFamily="34" charset="0"/>
            </a:rPr>
            <a:t>df.isnull().sum()/len(df)*100</a:t>
          </a:r>
          <a:endParaRPr lang="en-IN" sz="1600" kern="1200" dirty="0">
            <a:latin typeface="Calibri" panose="020F0502020204030204" pitchFamily="34" charset="0"/>
            <a:ea typeface="Calibri" panose="020F0502020204030204" pitchFamily="34" charset="0"/>
            <a:cs typeface="Calibri" panose="020F0502020204030204" pitchFamily="34" charset="0"/>
          </a:endParaRPr>
        </a:p>
        <a:p>
          <a:pPr marL="171450" lvl="1" indent="-171450" algn="l" defTabSz="711200">
            <a:lnSpc>
              <a:spcPct val="90000"/>
            </a:lnSpc>
            <a:spcBef>
              <a:spcPct val="0"/>
            </a:spcBef>
            <a:spcAft>
              <a:spcPct val="15000"/>
            </a:spcAft>
            <a:buChar char="•"/>
          </a:pPr>
          <a:r>
            <a:rPr lang="en-IN" sz="1600" b="0" i="0" kern="1200" dirty="0">
              <a:latin typeface="Calibri" panose="020F0502020204030204" pitchFamily="34" charset="0"/>
              <a:ea typeface="Calibri" panose="020F0502020204030204" pitchFamily="34" charset="0"/>
              <a:cs typeface="Calibri" panose="020F0502020204030204" pitchFamily="34" charset="0"/>
            </a:rPr>
            <a:t>df[‘col’]=df[‘col’].fillna(df[‘col’].mean()/mode()/median()</a:t>
          </a:r>
          <a:endParaRPr lang="en-IN" sz="1600" kern="1200" dirty="0">
            <a:latin typeface="Calibri" panose="020F0502020204030204" pitchFamily="34" charset="0"/>
            <a:ea typeface="Calibri" panose="020F0502020204030204" pitchFamily="34" charset="0"/>
            <a:cs typeface="Calibri" panose="020F0502020204030204" pitchFamily="34" charset="0"/>
          </a:endParaRPr>
        </a:p>
        <a:p>
          <a:pPr marL="171450" lvl="1" indent="-171450" algn="l" defTabSz="711200">
            <a:lnSpc>
              <a:spcPct val="90000"/>
            </a:lnSpc>
            <a:spcBef>
              <a:spcPct val="0"/>
            </a:spcBef>
            <a:spcAft>
              <a:spcPct val="15000"/>
            </a:spcAft>
            <a:buChar char="•"/>
          </a:pPr>
          <a:r>
            <a:rPr lang="en-IN" sz="1600" b="0" i="0" kern="1200" dirty="0">
              <a:latin typeface="Calibri" panose="020F0502020204030204" pitchFamily="34" charset="0"/>
              <a:ea typeface="Calibri" panose="020F0502020204030204" pitchFamily="34" charset="0"/>
              <a:cs typeface="Calibri" panose="020F0502020204030204" pitchFamily="34" charset="0"/>
            </a:rPr>
            <a:t>df[‘col’]=df[‘col’].fillna(method=‘ffill’)</a:t>
          </a:r>
          <a:endParaRPr lang="en-IN" sz="1600" kern="1200" dirty="0">
            <a:latin typeface="Calibri" panose="020F0502020204030204" pitchFamily="34" charset="0"/>
            <a:ea typeface="Calibri" panose="020F0502020204030204" pitchFamily="34" charset="0"/>
            <a:cs typeface="Calibri" panose="020F0502020204030204" pitchFamily="34" charset="0"/>
          </a:endParaRPr>
        </a:p>
        <a:p>
          <a:pPr marL="171450" lvl="1" indent="-171450" algn="l" defTabSz="711200">
            <a:lnSpc>
              <a:spcPct val="90000"/>
            </a:lnSpc>
            <a:spcBef>
              <a:spcPct val="0"/>
            </a:spcBef>
            <a:spcAft>
              <a:spcPct val="15000"/>
            </a:spcAft>
            <a:buChar char="•"/>
          </a:pPr>
          <a:r>
            <a:rPr lang="en-IN" sz="1600" b="0" i="0" kern="1200" dirty="0">
              <a:latin typeface="Calibri" panose="020F0502020204030204" pitchFamily="34" charset="0"/>
              <a:ea typeface="Calibri" panose="020F0502020204030204" pitchFamily="34" charset="0"/>
              <a:cs typeface="Calibri" panose="020F0502020204030204" pitchFamily="34" charset="0"/>
            </a:rPr>
            <a:t>df[‘col’]=df[‘col’].fillna(method=‘bfill’)</a:t>
          </a:r>
          <a:endParaRPr lang="en-IN" sz="1600" kern="1200" dirty="0">
            <a:latin typeface="Calibri" panose="020F0502020204030204" pitchFamily="34" charset="0"/>
            <a:ea typeface="Calibri" panose="020F0502020204030204" pitchFamily="34" charset="0"/>
            <a:cs typeface="Calibri" panose="020F0502020204030204" pitchFamily="34" charset="0"/>
          </a:endParaRPr>
        </a:p>
        <a:p>
          <a:pPr marL="171450" lvl="1" indent="-171450" algn="l" defTabSz="711200">
            <a:lnSpc>
              <a:spcPct val="90000"/>
            </a:lnSpc>
            <a:spcBef>
              <a:spcPct val="0"/>
            </a:spcBef>
            <a:spcAft>
              <a:spcPct val="15000"/>
            </a:spcAft>
            <a:buChar char="•"/>
          </a:pPr>
          <a:r>
            <a:rPr lang="en-US" sz="1600" b="0" i="0" kern="1200" dirty="0">
              <a:latin typeface="Calibri" panose="020F0502020204030204" pitchFamily="34" charset="0"/>
              <a:ea typeface="Calibri" panose="020F0502020204030204" pitchFamily="34" charset="0"/>
              <a:cs typeface="Calibri" panose="020F0502020204030204" pitchFamily="34" charset="0"/>
            </a:rPr>
            <a:t>df.dropna(subset=[‘col’],inplace=True)</a:t>
          </a:r>
          <a:endParaRPr lang="en-IN" sz="16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3358848" y="1139196"/>
        <a:ext cx="5890201" cy="1175286"/>
      </dsp:txXfrm>
    </dsp:sp>
    <dsp:sp modelId="{AA1757C3-C85F-486D-B09D-CDE65BB79FE6}">
      <dsp:nvSpPr>
        <dsp:cNvPr id="0" name=""/>
        <dsp:cNvSpPr/>
      </dsp:nvSpPr>
      <dsp:spPr>
        <a:xfrm>
          <a:off x="0" y="1209506"/>
          <a:ext cx="3349002" cy="10149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i="0" kern="1200" dirty="0"/>
            <a:t>Null Values prediction and fill methods</a:t>
          </a:r>
          <a:endParaRPr lang="en-IN" sz="2200" kern="1200" dirty="0"/>
        </a:p>
      </dsp:txBody>
      <dsp:txXfrm>
        <a:off x="49548" y="1259054"/>
        <a:ext cx="3249906" cy="915902"/>
      </dsp:txXfrm>
    </dsp:sp>
    <dsp:sp modelId="{49784F19-F1BF-4C72-84DF-8D09432CA9A0}">
      <dsp:nvSpPr>
        <dsp:cNvPr id="0" name=""/>
        <dsp:cNvSpPr/>
      </dsp:nvSpPr>
      <dsp:spPr>
        <a:xfrm rot="5400000">
          <a:off x="5932266" y="-56235"/>
          <a:ext cx="811999" cy="596542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latin typeface="Calibri" panose="020F0502020204030204" pitchFamily="34" charset="0"/>
              <a:ea typeface="Calibri" panose="020F0502020204030204" pitchFamily="34" charset="0"/>
              <a:cs typeface="Calibri" panose="020F0502020204030204" pitchFamily="34" charset="0"/>
            </a:rPr>
            <a:t>df[“col"]=df[“col"].astype(“int”)</a:t>
          </a:r>
          <a:endParaRPr lang="en-IN" sz="1600" kern="1200" dirty="0">
            <a:latin typeface="Calibri" panose="020F0502020204030204" pitchFamily="34" charset="0"/>
            <a:ea typeface="Calibri" panose="020F0502020204030204" pitchFamily="34" charset="0"/>
            <a:cs typeface="Calibri" panose="020F0502020204030204" pitchFamily="34" charset="0"/>
          </a:endParaRPr>
        </a:p>
        <a:p>
          <a:pPr marL="171450" lvl="1" indent="-171450" algn="l" defTabSz="711200">
            <a:lnSpc>
              <a:spcPct val="90000"/>
            </a:lnSpc>
            <a:spcBef>
              <a:spcPct val="0"/>
            </a:spcBef>
            <a:spcAft>
              <a:spcPct val="15000"/>
            </a:spcAft>
            <a:buChar char="•"/>
          </a:pPr>
          <a:r>
            <a:rPr lang="en-US" sz="1600" b="0" i="0" kern="1200" dirty="0">
              <a:latin typeface="Calibri" panose="020F0502020204030204" pitchFamily="34" charset="0"/>
              <a:ea typeface="Calibri" panose="020F0502020204030204" pitchFamily="34" charset="0"/>
              <a:cs typeface="Calibri" panose="020F0502020204030204" pitchFamily="34" charset="0"/>
            </a:rPr>
            <a:t>df[“col"]=pd.to_datetime(df[“col"],errors="coerce")</a:t>
          </a:r>
          <a:endParaRPr lang="en-IN" sz="16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3355553" y="2560117"/>
        <a:ext cx="5925788" cy="732721"/>
      </dsp:txXfrm>
    </dsp:sp>
    <dsp:sp modelId="{5772E52C-4643-4B43-86B3-B544A1F9AC95}">
      <dsp:nvSpPr>
        <dsp:cNvPr id="0" name=""/>
        <dsp:cNvSpPr/>
      </dsp:nvSpPr>
      <dsp:spPr>
        <a:xfrm>
          <a:off x="0" y="2418978"/>
          <a:ext cx="3355552" cy="10149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i="0" kern="1200" dirty="0"/>
            <a:t>Type Conversion</a:t>
          </a:r>
          <a:endParaRPr lang="en-IN" sz="2200" kern="1200" dirty="0"/>
        </a:p>
      </dsp:txBody>
      <dsp:txXfrm>
        <a:off x="49548" y="2468526"/>
        <a:ext cx="3256456" cy="915902"/>
      </dsp:txXfrm>
    </dsp:sp>
    <dsp:sp modelId="{81008823-731D-4880-B0F9-4676B510F50B}">
      <dsp:nvSpPr>
        <dsp:cNvPr id="0" name=""/>
        <dsp:cNvSpPr/>
      </dsp:nvSpPr>
      <dsp:spPr>
        <a:xfrm rot="5400000">
          <a:off x="5932266" y="1009513"/>
          <a:ext cx="811999" cy="596542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latin typeface="Calibri" panose="020F0502020204030204" pitchFamily="34" charset="0"/>
              <a:ea typeface="Calibri" panose="020F0502020204030204" pitchFamily="34" charset="0"/>
              <a:cs typeface="Calibri" panose="020F0502020204030204" pitchFamily="34" charset="0"/>
            </a:rPr>
            <a:t>df[“col"] = df[“col"].str.strip().str.upper()</a:t>
          </a:r>
          <a:endParaRPr lang="en-IN" sz="16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3355553" y="3625866"/>
        <a:ext cx="5925788" cy="732721"/>
      </dsp:txXfrm>
    </dsp:sp>
    <dsp:sp modelId="{0C40D3B4-259E-4860-AC1F-8CE8A322113E}">
      <dsp:nvSpPr>
        <dsp:cNvPr id="0" name=""/>
        <dsp:cNvSpPr/>
      </dsp:nvSpPr>
      <dsp:spPr>
        <a:xfrm>
          <a:off x="0" y="3484727"/>
          <a:ext cx="3355552" cy="10149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IN" sz="2200" b="0" i="0" kern="1200" dirty="0"/>
            <a:t>Standardize Text Entries</a:t>
          </a:r>
          <a:r>
            <a:rPr lang="en-US" sz="2200" b="0" i="0" kern="1200" dirty="0"/>
            <a:t> using string methods</a:t>
          </a:r>
          <a:endParaRPr lang="en-IN" sz="2200" kern="1200" dirty="0"/>
        </a:p>
      </dsp:txBody>
      <dsp:txXfrm>
        <a:off x="49548" y="3534275"/>
        <a:ext cx="3256456" cy="915902"/>
      </dsp:txXfrm>
    </dsp:sp>
    <dsp:sp modelId="{613ABC0A-61F2-4D7C-B2FE-0B86A061EDDC}">
      <dsp:nvSpPr>
        <dsp:cNvPr id="0" name=""/>
        <dsp:cNvSpPr/>
      </dsp:nvSpPr>
      <dsp:spPr>
        <a:xfrm rot="5400000">
          <a:off x="5932266" y="2075262"/>
          <a:ext cx="811999" cy="596542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b="0" i="0" kern="1200">
              <a:latin typeface="Calibri" panose="020F0502020204030204" pitchFamily="34" charset="0"/>
              <a:ea typeface="Calibri" panose="020F0502020204030204" pitchFamily="34" charset="0"/>
              <a:cs typeface="Calibri" panose="020F0502020204030204" pitchFamily="34" charset="0"/>
            </a:rPr>
            <a:t>IQR</a:t>
          </a:r>
          <a:endParaRPr lang="en-IN" sz="1600" kern="1200">
            <a:latin typeface="Calibri" panose="020F0502020204030204" pitchFamily="34" charset="0"/>
            <a:ea typeface="Calibri" panose="020F0502020204030204" pitchFamily="34" charset="0"/>
            <a:cs typeface="Calibri" panose="020F0502020204030204" pitchFamily="34" charset="0"/>
          </a:endParaRPr>
        </a:p>
        <a:p>
          <a:pPr marL="171450" lvl="1" indent="-171450" algn="l" defTabSz="711200">
            <a:lnSpc>
              <a:spcPct val="90000"/>
            </a:lnSpc>
            <a:spcBef>
              <a:spcPct val="0"/>
            </a:spcBef>
            <a:spcAft>
              <a:spcPct val="15000"/>
            </a:spcAft>
            <a:buChar char="•"/>
          </a:pPr>
          <a:r>
            <a:rPr lang="en-US" sz="1600" b="0" i="0" kern="1200">
              <a:latin typeface="Calibri" panose="020F0502020204030204" pitchFamily="34" charset="0"/>
              <a:ea typeface="Calibri" panose="020F0502020204030204" pitchFamily="34" charset="0"/>
              <a:cs typeface="Calibri" panose="020F0502020204030204" pitchFamily="34" charset="0"/>
            </a:rPr>
            <a:t>Box plot method</a:t>
          </a:r>
          <a:endParaRPr lang="en-IN" sz="1600" kern="1200">
            <a:latin typeface="Calibri" panose="020F0502020204030204" pitchFamily="34" charset="0"/>
            <a:ea typeface="Calibri" panose="020F0502020204030204" pitchFamily="34" charset="0"/>
            <a:cs typeface="Calibri" panose="020F0502020204030204" pitchFamily="34" charset="0"/>
          </a:endParaRPr>
        </a:p>
      </dsp:txBody>
      <dsp:txXfrm rot="-5400000">
        <a:off x="3355553" y="4691615"/>
        <a:ext cx="5925788" cy="732721"/>
      </dsp:txXfrm>
    </dsp:sp>
    <dsp:sp modelId="{DBF297FE-C4B4-423F-9DA4-F8EAF361D3A2}">
      <dsp:nvSpPr>
        <dsp:cNvPr id="0" name=""/>
        <dsp:cNvSpPr/>
      </dsp:nvSpPr>
      <dsp:spPr>
        <a:xfrm>
          <a:off x="0" y="4550476"/>
          <a:ext cx="3355552" cy="10149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b="0" i="0" kern="1200" dirty="0"/>
            <a:t>Outliers Identification.</a:t>
          </a:r>
          <a:endParaRPr lang="en-IN" sz="2200" kern="1200" dirty="0"/>
        </a:p>
      </dsp:txBody>
      <dsp:txXfrm>
        <a:off x="49548" y="4600024"/>
        <a:ext cx="3256456" cy="91590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9832"/>
            <a:ext cx="12190815" cy="6694098"/>
          </a:xfrm>
          <a:prstGeom prst="rect">
            <a:avLst/>
          </a:prstGeom>
          <a:noFill/>
          <a:ln>
            <a:noFill/>
          </a:ln>
        </p:spPr>
      </p:pic>
      <p:sp>
        <p:nvSpPr>
          <p:cNvPr id="99" name="Google Shape;99;p1"/>
          <p:cNvSpPr txBox="1"/>
          <p:nvPr/>
        </p:nvSpPr>
        <p:spPr>
          <a:xfrm>
            <a:off x="2384414" y="3649160"/>
            <a:ext cx="7246189" cy="2062063"/>
          </a:xfrm>
          <a:prstGeom prst="rect">
            <a:avLst/>
          </a:prstGeom>
          <a:noFill/>
          <a:ln>
            <a:noFill/>
          </a:ln>
        </p:spPr>
        <p:txBody>
          <a:bodyPr spcFirstLastPara="1" wrap="square" lIns="91425" tIns="45700" rIns="91425" bIns="45700" anchor="t" anchorCtr="0">
            <a:spAutoFit/>
          </a:bodyPr>
          <a:lstStyle/>
          <a:p>
            <a:pPr algn="ctr"/>
            <a:endParaRPr lang="en-US" sz="3200" b="1" i="1" dirty="0">
              <a:solidFill>
                <a:schemeClr val="tx1">
                  <a:lumMod val="95000"/>
                  <a:lumOff val="5000"/>
                </a:schemeClr>
              </a:solidFill>
              <a:effectLst/>
              <a:latin typeface="Bookman Old Style" panose="02050604050505020204" pitchFamily="18" charset="0"/>
            </a:endParaRPr>
          </a:p>
          <a:p>
            <a:pPr algn="ctr"/>
            <a:r>
              <a:rPr lang="en-US" sz="3200" b="1" i="1" dirty="0">
                <a:solidFill>
                  <a:schemeClr val="tx1">
                    <a:lumMod val="95000"/>
                    <a:lumOff val="5000"/>
                  </a:schemeClr>
                </a:solidFill>
                <a:effectLst/>
                <a:latin typeface="Bookman Old Style" panose="02050604050505020204" pitchFamily="18" charset="0"/>
              </a:rPr>
              <a:t>AIR POLLUTION ANALYSIS IN HYDERABAD</a:t>
            </a:r>
          </a:p>
          <a:p>
            <a:pPr algn="ctr"/>
            <a:endParaRPr lang="en-US" sz="3200" b="0" i="0" dirty="0">
              <a:solidFill>
                <a:schemeClr val="tx1">
                  <a:lumMod val="95000"/>
                  <a:lumOff val="5000"/>
                </a:schemeClr>
              </a:solidFill>
              <a:effectLst/>
              <a:latin typeface="Bookman Old Style" panose="0205060405050502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br>
              <a:rPr lang="en-IN" sz="2800" b="1" dirty="0">
                <a:solidFill>
                  <a:srgbClr val="FF0000"/>
                </a:solidFill>
              </a:rPr>
            </a:br>
            <a:r>
              <a:rPr lang="en-IN" sz="2800" b="1" dirty="0">
                <a:solidFill>
                  <a:srgbClr val="FF0000"/>
                </a:solidFill>
              </a:rPr>
              <a:t>Agenda</a:t>
            </a:r>
            <a:endParaRPr sz="2800" b="1" dirty="0">
              <a:solidFill>
                <a:srgbClr val="FF0000"/>
              </a:solidFill>
            </a:endParaRPr>
          </a:p>
        </p:txBody>
      </p:sp>
      <p:sp>
        <p:nvSpPr>
          <p:cNvPr id="111" name="Google Shape;111;p4"/>
          <p:cNvSpPr txBox="1">
            <a:spLocks noGrp="1"/>
          </p:cNvSpPr>
          <p:nvPr>
            <p:ph type="body" idx="1"/>
          </p:nvPr>
        </p:nvSpPr>
        <p:spPr>
          <a:xfrm>
            <a:off x="684880" y="1229032"/>
            <a:ext cx="10515600" cy="3559278"/>
          </a:xfrm>
          <a:prstGeom prst="rect">
            <a:avLst/>
          </a:prstGeom>
          <a:noFill/>
          <a:ln>
            <a:noFill/>
          </a:ln>
        </p:spPr>
        <p:txBody>
          <a:bodyPr spcFirstLastPara="1" wrap="square" lIns="91425" tIns="45700" rIns="91425" bIns="45700" anchor="t" anchorCtr="0">
            <a:normAutofit/>
          </a:bodyPr>
          <a:lstStyle/>
          <a:p>
            <a:pPr marL="0" indent="0">
              <a:buSzPct val="100000"/>
              <a:buNone/>
            </a:pPr>
            <a:r>
              <a:rPr lang="en-US" sz="2400" b="1" dirty="0">
                <a:latin typeface="Calibri" panose="020F0502020204030204" pitchFamily="34" charset="0"/>
                <a:ea typeface="Calibri" panose="020F0502020204030204" pitchFamily="34" charset="0"/>
                <a:cs typeface="Calibri" panose="020F0502020204030204" pitchFamily="34" charset="0"/>
              </a:rPr>
              <a:t>1. What is Air Pollution and Problem Statement.</a:t>
            </a:r>
          </a:p>
          <a:p>
            <a:pPr marL="0" indent="0">
              <a:buSzPct val="100000"/>
              <a:buNone/>
            </a:pPr>
            <a:r>
              <a:rPr lang="en-US" sz="2400" b="1" dirty="0">
                <a:latin typeface="Calibri" panose="020F0502020204030204" pitchFamily="34" charset="0"/>
                <a:ea typeface="Calibri" panose="020F0502020204030204" pitchFamily="34" charset="0"/>
                <a:cs typeface="Calibri" panose="020F0502020204030204" pitchFamily="34" charset="0"/>
              </a:rPr>
              <a:t>2. Data Frame Information.</a:t>
            </a:r>
          </a:p>
          <a:p>
            <a:pPr marL="0" indent="0">
              <a:buSzPct val="100000"/>
              <a:buNone/>
            </a:pPr>
            <a:r>
              <a:rPr lang="en-US" sz="2400" b="1" dirty="0">
                <a:latin typeface="Calibri" panose="020F0502020204030204" pitchFamily="34" charset="0"/>
                <a:ea typeface="Calibri" panose="020F0502020204030204" pitchFamily="34" charset="0"/>
                <a:cs typeface="Calibri" panose="020F0502020204030204" pitchFamily="34" charset="0"/>
              </a:rPr>
              <a:t>3. Data Cleaning.</a:t>
            </a:r>
          </a:p>
          <a:p>
            <a:pPr marL="0" indent="0">
              <a:buSzPct val="100000"/>
              <a:buNone/>
            </a:pPr>
            <a:r>
              <a:rPr lang="en-US" sz="2400" b="1" dirty="0">
                <a:latin typeface="Calibri" panose="020F0502020204030204" pitchFamily="34" charset="0"/>
                <a:ea typeface="Calibri" panose="020F0502020204030204" pitchFamily="34" charset="0"/>
                <a:cs typeface="Calibri" panose="020F0502020204030204" pitchFamily="34" charset="0"/>
              </a:rPr>
              <a:t>4. Analysis according to problem Statement.</a:t>
            </a:r>
          </a:p>
          <a:p>
            <a:pPr marL="0" indent="0">
              <a:buSzPct val="100000"/>
              <a:buNone/>
            </a:pPr>
            <a:r>
              <a:rPr lang="en-US" sz="2400" b="1" dirty="0">
                <a:latin typeface="Calibri" panose="020F0502020204030204" pitchFamily="34" charset="0"/>
                <a:ea typeface="Calibri" panose="020F0502020204030204" pitchFamily="34" charset="0"/>
                <a:cs typeface="Calibri" panose="020F0502020204030204" pitchFamily="34" charset="0"/>
              </a:rPr>
              <a:t>5. Observations for each analysis.</a:t>
            </a:r>
          </a:p>
          <a:p>
            <a:pPr marL="0" indent="0">
              <a:buSzPct val="100000"/>
              <a:buNone/>
            </a:pPr>
            <a:r>
              <a:rPr lang="en-US" sz="2400" b="1" dirty="0">
                <a:latin typeface="Calibri" panose="020F0502020204030204" pitchFamily="34" charset="0"/>
                <a:ea typeface="Calibri" panose="020F0502020204030204" pitchFamily="34" charset="0"/>
                <a:cs typeface="Calibri" panose="020F0502020204030204" pitchFamily="34" charset="0"/>
              </a:rPr>
              <a:t>6. Recommendations.</a:t>
            </a:r>
          </a:p>
          <a:p>
            <a:pPr marL="0" indent="0">
              <a:buSzPct val="100000"/>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indent="0">
              <a:buSzPct val="100000"/>
              <a:buNone/>
            </a:pPr>
            <a:endParaRPr sz="20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2AD89E-9813-F92D-0C69-655C5647F974}"/>
              </a:ext>
            </a:extLst>
          </p:cNvPr>
          <p:cNvSpPr txBox="1"/>
          <p:nvPr/>
        </p:nvSpPr>
        <p:spPr>
          <a:xfrm>
            <a:off x="1160206" y="393290"/>
            <a:ext cx="9674942" cy="2862322"/>
          </a:xfrm>
          <a:prstGeom prst="rect">
            <a:avLst/>
          </a:prstGeom>
          <a:noFill/>
        </p:spPr>
        <p:txBody>
          <a:bodyPr wrap="square" rtlCol="0">
            <a:spAutoFit/>
          </a:bodyPr>
          <a:lstStyle/>
          <a:p>
            <a:pPr>
              <a:buNone/>
            </a:pPr>
            <a:endPar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a:buNone/>
            </a:pPr>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Air Pollution:</a:t>
            </a:r>
          </a:p>
          <a:p>
            <a:pPr>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Air pollution refers to the presence of harmful substances in the atmosphere, </a:t>
            </a:r>
          </a:p>
          <a:p>
            <a:r>
              <a:rPr lang="en-US" sz="2000" dirty="0">
                <a:latin typeface="Calibri" panose="020F0502020204030204" pitchFamily="34" charset="0"/>
                <a:ea typeface="Calibri" panose="020F0502020204030204" pitchFamily="34" charset="0"/>
                <a:cs typeface="Calibri" panose="020F0502020204030204" pitchFamily="34" charset="0"/>
              </a:rPr>
              <a:t>such as gases, dust, smoke, or chemicals, that can negatively affect human health, the environment, and the climate. These pollutants can be natural or man-made and are typically released by vehicles, industries, construction activities, and burning of fossil fuels.</a:t>
            </a:r>
          </a:p>
          <a:p>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122FEF-0699-2C16-1302-AF60F727200B}"/>
              </a:ext>
            </a:extLst>
          </p:cNvPr>
          <p:cNvSpPr txBox="1"/>
          <p:nvPr/>
        </p:nvSpPr>
        <p:spPr>
          <a:xfrm>
            <a:off x="1160206" y="3121224"/>
            <a:ext cx="9478297" cy="2554545"/>
          </a:xfrm>
          <a:prstGeom prst="rect">
            <a:avLst/>
          </a:prstGeom>
          <a:noFill/>
        </p:spPr>
        <p:txBody>
          <a:bodyPr wrap="square" rtlCol="0">
            <a:spAutoFit/>
          </a:bodyPr>
          <a:lstStyle/>
          <a:p>
            <a:r>
              <a:rPr lang="en-IN" sz="2000" b="1" i="0" u="none" strike="noStrike"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Problem Statement:</a:t>
            </a:r>
            <a:endParaRPr lang="en-US" sz="2000" i="0"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r>
              <a:rPr lang="en-US" sz="200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This study aims to analyze air pollution trends in Hyderabad from January to August 2023 by identifying the most affected locations, determining the months and times of day with the highest pollution levels, comparing pollution levels between weekdays and weekends, and recognizing the most commonly occurring air pollutants across all monitoring areas.</a:t>
            </a:r>
          </a:p>
          <a:p>
            <a:endParaRPr lang="en-US" sz="2000" i="0"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r>
              <a:rPr lang="en-US" sz="2000" dirty="0">
                <a:solidFill>
                  <a:srgbClr val="1F1F1F"/>
                </a:solidFill>
                <a:latin typeface="Calibri" panose="020F0502020204030204" pitchFamily="34" charset="0"/>
                <a:ea typeface="Calibri" panose="020F0502020204030204" pitchFamily="34" charset="0"/>
                <a:cs typeface="Calibri" panose="020F0502020204030204" pitchFamily="34" charset="0"/>
              </a:rPr>
              <a:t>Dataset: https://data.telangana.gov.in</a:t>
            </a:r>
            <a:endParaRPr lang="en-IN" sz="2000" dirty="0"/>
          </a:p>
        </p:txBody>
      </p:sp>
    </p:spTree>
    <p:extLst>
      <p:ext uri="{BB962C8B-B14F-4D97-AF65-F5344CB8AC3E}">
        <p14:creationId xmlns:p14="http://schemas.microsoft.com/office/powerpoint/2010/main" val="820202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A1D42A-1354-D241-4B99-54D0DEBD5760}"/>
              </a:ext>
            </a:extLst>
          </p:cNvPr>
          <p:cNvPicPr>
            <a:picLocks noChangeAspect="1"/>
          </p:cNvPicPr>
          <p:nvPr/>
        </p:nvPicPr>
        <p:blipFill>
          <a:blip r:embed="rId2"/>
          <a:stretch>
            <a:fillRect/>
          </a:stretch>
        </p:blipFill>
        <p:spPr>
          <a:xfrm>
            <a:off x="560438" y="656303"/>
            <a:ext cx="10107562" cy="5545394"/>
          </a:xfrm>
          <a:prstGeom prst="rect">
            <a:avLst/>
          </a:prstGeom>
          <a:ln>
            <a:noFill/>
          </a:ln>
          <a:effectLst>
            <a:softEdge rad="112500"/>
          </a:effectLst>
        </p:spPr>
      </p:pic>
      <p:sp>
        <p:nvSpPr>
          <p:cNvPr id="6" name="TextBox 5">
            <a:extLst>
              <a:ext uri="{FF2B5EF4-FFF2-40B4-BE49-F238E27FC236}">
                <a16:creationId xmlns:a16="http://schemas.microsoft.com/office/drawing/2014/main" id="{AEBA2072-AF87-AACD-13BD-F06E0EA68715}"/>
              </a:ext>
            </a:extLst>
          </p:cNvPr>
          <p:cNvSpPr txBox="1"/>
          <p:nvPr/>
        </p:nvSpPr>
        <p:spPr>
          <a:xfrm>
            <a:off x="422787" y="285135"/>
            <a:ext cx="6194323" cy="461665"/>
          </a:xfrm>
          <a:prstGeom prst="rect">
            <a:avLst/>
          </a:prstGeom>
          <a:noFill/>
        </p:spPr>
        <p:txBody>
          <a:bodyPr wrap="square" rtlCol="0">
            <a:spAutoFit/>
          </a:bodyPr>
          <a:lstStyle/>
          <a:p>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Data Frame Information</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1454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B163DA-0E55-F5B2-5DD1-FB8BF92F327E}"/>
              </a:ext>
            </a:extLst>
          </p:cNvPr>
          <p:cNvSpPr txBox="1"/>
          <p:nvPr/>
        </p:nvSpPr>
        <p:spPr>
          <a:xfrm>
            <a:off x="560439" y="235974"/>
            <a:ext cx="11056373" cy="461665"/>
          </a:xfrm>
          <a:prstGeom prst="rect">
            <a:avLst/>
          </a:prstGeom>
          <a:noFill/>
        </p:spPr>
        <p:txBody>
          <a:bodyPr wrap="square" rtlCol="0">
            <a:spAutoFit/>
          </a:bodyPr>
          <a:lstStyle/>
          <a:p>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Data Cleaning</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Diagram 6">
            <a:extLst>
              <a:ext uri="{FF2B5EF4-FFF2-40B4-BE49-F238E27FC236}">
                <a16:creationId xmlns:a16="http://schemas.microsoft.com/office/drawing/2014/main" id="{C955CDD9-29D5-7DBD-870C-C9AFFE5B6518}"/>
              </a:ext>
            </a:extLst>
          </p:cNvPr>
          <p:cNvGraphicFramePr/>
          <p:nvPr>
            <p:extLst>
              <p:ext uri="{D42A27DB-BD31-4B8C-83A1-F6EECF244321}">
                <p14:modId xmlns:p14="http://schemas.microsoft.com/office/powerpoint/2010/main" val="1186722618"/>
              </p:ext>
            </p:extLst>
          </p:nvPr>
        </p:nvGraphicFramePr>
        <p:xfrm>
          <a:off x="1189704" y="697639"/>
          <a:ext cx="9320980" cy="55655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6783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2B7CE-68A8-F9C1-BD10-8BF3C4966785}"/>
              </a:ext>
            </a:extLst>
          </p:cNvPr>
          <p:cNvSpPr>
            <a:spLocks noGrp="1"/>
          </p:cNvSpPr>
          <p:nvPr>
            <p:ph type="title"/>
          </p:nvPr>
        </p:nvSpPr>
        <p:spPr>
          <a:xfrm>
            <a:off x="838200" y="365125"/>
            <a:ext cx="10515600" cy="387043"/>
          </a:xfrm>
        </p:spPr>
        <p:txBody>
          <a:bodyPr>
            <a:noAutofit/>
          </a:bodyPr>
          <a:lstStyle/>
          <a:p>
            <a:pPr algn="ctr"/>
            <a:r>
              <a:rPr lang="en-US" sz="2400" b="1" dirty="0">
                <a:solidFill>
                  <a:srgbClr val="FF0000"/>
                </a:solidFill>
              </a:rPr>
              <a:t>COMPARISON OF AIR QUALITY ACROSS LOCATIONS</a:t>
            </a:r>
            <a:endParaRPr lang="en-IN" sz="2400" b="1" dirty="0">
              <a:solidFill>
                <a:srgbClr val="FF0000"/>
              </a:solidFill>
            </a:endParaRPr>
          </a:p>
        </p:txBody>
      </p:sp>
      <p:pic>
        <p:nvPicPr>
          <p:cNvPr id="4" name="Picture 3">
            <a:extLst>
              <a:ext uri="{FF2B5EF4-FFF2-40B4-BE49-F238E27FC236}">
                <a16:creationId xmlns:a16="http://schemas.microsoft.com/office/drawing/2014/main" id="{5D0FFDA8-5ADB-31CE-5624-C8593333231B}"/>
              </a:ext>
            </a:extLst>
          </p:cNvPr>
          <p:cNvPicPr>
            <a:picLocks noChangeAspect="1"/>
          </p:cNvPicPr>
          <p:nvPr/>
        </p:nvPicPr>
        <p:blipFill>
          <a:blip r:embed="rId2"/>
          <a:stretch>
            <a:fillRect/>
          </a:stretch>
        </p:blipFill>
        <p:spPr>
          <a:xfrm>
            <a:off x="599768" y="1219200"/>
            <a:ext cx="11120284" cy="4886632"/>
          </a:xfrm>
          <a:prstGeom prst="rect">
            <a:avLst/>
          </a:prstGeom>
        </p:spPr>
      </p:pic>
    </p:spTree>
    <p:extLst>
      <p:ext uri="{BB962C8B-B14F-4D97-AF65-F5344CB8AC3E}">
        <p14:creationId xmlns:p14="http://schemas.microsoft.com/office/powerpoint/2010/main" val="1506629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CE22E-907A-EFB0-0127-95AC9B827E77}"/>
              </a:ext>
            </a:extLst>
          </p:cNvPr>
          <p:cNvSpPr>
            <a:spLocks noGrp="1"/>
          </p:cNvSpPr>
          <p:nvPr>
            <p:ph type="title"/>
          </p:nvPr>
        </p:nvSpPr>
        <p:spPr/>
        <p:txBody>
          <a:bodyPr>
            <a:normAutofit/>
          </a:bodyPr>
          <a:lstStyle/>
          <a:p>
            <a:r>
              <a:rPr lang="en-US" sz="2400" b="1" dirty="0">
                <a:solidFill>
                  <a:srgbClr val="FF0000"/>
                </a:solidFill>
              </a:rPr>
              <a:t>Observations:</a:t>
            </a:r>
            <a:endParaRPr lang="en-IN" sz="2400" b="1" dirty="0">
              <a:solidFill>
                <a:srgbClr val="FF0000"/>
              </a:solidFill>
            </a:endParaRPr>
          </a:p>
        </p:txBody>
      </p:sp>
      <p:sp>
        <p:nvSpPr>
          <p:cNvPr id="3" name="Text Placeholder 2">
            <a:extLst>
              <a:ext uri="{FF2B5EF4-FFF2-40B4-BE49-F238E27FC236}">
                <a16:creationId xmlns:a16="http://schemas.microsoft.com/office/drawing/2014/main" id="{1EB4E035-E7AC-CA13-BD34-4536666A5580}"/>
              </a:ext>
            </a:extLst>
          </p:cNvPr>
          <p:cNvSpPr>
            <a:spLocks noGrp="1"/>
          </p:cNvSpPr>
          <p:nvPr>
            <p:ph type="body" idx="1"/>
          </p:nvPr>
        </p:nvSpPr>
        <p:spPr>
          <a:xfrm>
            <a:off x="838200" y="1396181"/>
            <a:ext cx="10515600" cy="4780782"/>
          </a:xfrm>
        </p:spPr>
        <p:txBody>
          <a:bodyPr>
            <a:normAutofit/>
          </a:bodyPr>
          <a:lstStyle/>
          <a:p>
            <a:pPr algn="l">
              <a:buNone/>
            </a:pPr>
            <a:r>
              <a:rPr lang="en-US" sz="2400" b="1"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Most Affected Locations</a:t>
            </a:r>
          </a:p>
          <a:p>
            <a:pPr algn="l">
              <a:buFont typeface="Wingdings" panose="05000000000000000000" pitchFamily="2" charset="2"/>
              <a:buChar char="Ø"/>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Bollaram Industrial Area</a:t>
            </a:r>
          </a:p>
          <a:p>
            <a:pPr algn="l">
              <a:buFont typeface="Wingdings" panose="05000000000000000000" pitchFamily="2" charset="2"/>
              <a:buChar char="Ø"/>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Zoo Park</a:t>
            </a:r>
          </a:p>
          <a:p>
            <a:pPr algn="l">
              <a:buFont typeface="Wingdings" panose="05000000000000000000" pitchFamily="2" charset="2"/>
              <a:buChar char="Ø"/>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IDA Pashamylaram</a:t>
            </a:r>
          </a:p>
          <a:p>
            <a:pPr algn="l">
              <a:buFont typeface="Wingdings" panose="05000000000000000000" pitchFamily="2" charset="2"/>
              <a:buChar char="Ø"/>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Patancheru </a:t>
            </a:r>
          </a:p>
          <a:p>
            <a:pPr marL="114300" indent="0" algn="l">
              <a:buNone/>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These areas are likely affected by industrial emissions, vehicular pollution, </a:t>
            </a:r>
          </a:p>
          <a:p>
            <a:pPr marL="114300" indent="0" algn="l">
              <a:buNone/>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and less green cover.</a:t>
            </a:r>
          </a:p>
          <a:p>
            <a:pPr algn="l">
              <a:buFont typeface="Wingdings" panose="05000000000000000000" pitchFamily="2" charset="2"/>
              <a:buChar char="Ø"/>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Kompally </a:t>
            </a:r>
          </a:p>
          <a:p>
            <a:pPr marL="114300" indent="0" algn="l">
              <a:buNone/>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It shows the lowest AQI, indicating better air quality, possibly due to lower</a:t>
            </a:r>
          </a:p>
          <a:p>
            <a:pPr marL="114300" indent="0" algn="l">
              <a:buNone/>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traffic, industrial activity, or better ventilation.</a:t>
            </a:r>
          </a:p>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526520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D6FC05-C4C0-1293-66D5-EE52921DE84A}"/>
              </a:ext>
            </a:extLst>
          </p:cNvPr>
          <p:cNvPicPr>
            <a:picLocks noChangeAspect="1"/>
          </p:cNvPicPr>
          <p:nvPr/>
        </p:nvPicPr>
        <p:blipFill>
          <a:blip r:embed="rId2"/>
          <a:stretch>
            <a:fillRect/>
          </a:stretch>
        </p:blipFill>
        <p:spPr>
          <a:xfrm>
            <a:off x="1" y="1091381"/>
            <a:ext cx="6784257" cy="5062090"/>
          </a:xfrm>
          <a:prstGeom prst="rect">
            <a:avLst/>
          </a:prstGeom>
        </p:spPr>
      </p:pic>
      <p:sp>
        <p:nvSpPr>
          <p:cNvPr id="4" name="TextBox 3">
            <a:extLst>
              <a:ext uri="{FF2B5EF4-FFF2-40B4-BE49-F238E27FC236}">
                <a16:creationId xmlns:a16="http://schemas.microsoft.com/office/drawing/2014/main" id="{9815C066-2CA0-2940-A3A9-83116E09D672}"/>
              </a:ext>
            </a:extLst>
          </p:cNvPr>
          <p:cNvSpPr txBox="1"/>
          <p:nvPr/>
        </p:nvSpPr>
        <p:spPr>
          <a:xfrm>
            <a:off x="6676103" y="1317485"/>
            <a:ext cx="5132439" cy="3077766"/>
          </a:xfrm>
          <a:prstGeom prst="rect">
            <a:avLst/>
          </a:prstGeom>
          <a:noFill/>
        </p:spPr>
        <p:txBody>
          <a:bodyPr wrap="square" rtlCol="0">
            <a:spAutoFit/>
          </a:bodyPr>
          <a:lstStyle/>
          <a:p>
            <a:pPr algn="l">
              <a:buNone/>
            </a:pPr>
            <a:r>
              <a:rPr lang="en-US" sz="2000" b="1"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Observations</a:t>
            </a:r>
          </a:p>
          <a:p>
            <a:pPr algn="l"/>
            <a:r>
              <a:rPr lang="en-US" sz="2000" dirty="0">
                <a:solidFill>
                  <a:srgbClr val="1F1F1F"/>
                </a:solidFill>
                <a:latin typeface="Calibri" panose="020F0502020204030204" pitchFamily="34" charset="0"/>
                <a:ea typeface="Calibri" panose="020F0502020204030204" pitchFamily="34" charset="0"/>
                <a:cs typeface="Calibri" panose="020F0502020204030204" pitchFamily="34" charset="0"/>
              </a:rPr>
              <a:t>1. </a:t>
            </a:r>
            <a:r>
              <a:rPr lang="en-US" sz="20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PM10 and PM2.5 are the dominant pollutants.</a:t>
            </a:r>
          </a:p>
          <a:p>
            <a:pPr algn="l"/>
            <a:endParaRPr lang="en-US" sz="20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algn="l">
              <a:buNone/>
            </a:pPr>
            <a:r>
              <a:rPr lang="en-US" sz="20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2. CO (Carbon Monoxide) also shows a significant presence.</a:t>
            </a:r>
          </a:p>
          <a:p>
            <a:pPr algn="l">
              <a:buNone/>
            </a:pPr>
            <a:endParaRPr lang="en-US" sz="20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algn="l">
              <a:buNone/>
            </a:pPr>
            <a:r>
              <a:rPr lang="en-US" sz="20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3. Other pollutants like OZONE, NO2, NH3, SO2 are relatively lower in comparison.</a:t>
            </a:r>
          </a:p>
          <a:p>
            <a:endParaRPr lang="en-IN" dirty="0"/>
          </a:p>
        </p:txBody>
      </p:sp>
      <p:sp>
        <p:nvSpPr>
          <p:cNvPr id="5" name="TextBox 4">
            <a:extLst>
              <a:ext uri="{FF2B5EF4-FFF2-40B4-BE49-F238E27FC236}">
                <a16:creationId xmlns:a16="http://schemas.microsoft.com/office/drawing/2014/main" id="{88BCBB9B-B322-0E6B-B401-11315246A7D4}"/>
              </a:ext>
            </a:extLst>
          </p:cNvPr>
          <p:cNvSpPr txBox="1"/>
          <p:nvPr/>
        </p:nvSpPr>
        <p:spPr>
          <a:xfrm>
            <a:off x="2792361" y="186813"/>
            <a:ext cx="5486400" cy="1015663"/>
          </a:xfrm>
          <a:prstGeom prst="rect">
            <a:avLst/>
          </a:prstGeom>
          <a:noFill/>
        </p:spPr>
        <p:txBody>
          <a:bodyPr wrap="square" rtlCol="0">
            <a:spAutoFit/>
          </a:bodyPr>
          <a:lstStyle/>
          <a:p>
            <a:endParaRPr lang="en-US" sz="2000" b="1" dirty="0">
              <a:solidFill>
                <a:srgbClr val="A31515"/>
              </a:solidFill>
              <a:effectLst/>
              <a:latin typeface="Calibri" panose="020F0502020204030204" pitchFamily="34" charset="0"/>
              <a:ea typeface="Calibri" panose="020F0502020204030204" pitchFamily="34" charset="0"/>
              <a:cs typeface="Calibri" panose="020F0502020204030204" pitchFamily="34" charset="0"/>
            </a:endParaRPr>
          </a:p>
          <a:p>
            <a:r>
              <a:rPr lang="en-US" sz="2000" b="1" dirty="0">
                <a:solidFill>
                  <a:srgbClr val="A31515"/>
                </a:solidFill>
                <a:effectLst/>
                <a:latin typeface="Calibri" panose="020F0502020204030204" pitchFamily="34" charset="0"/>
                <a:ea typeface="Calibri" panose="020F0502020204030204" pitchFamily="34" charset="0"/>
                <a:cs typeface="Calibri" panose="020F0502020204030204" pitchFamily="34" charset="0"/>
              </a:rPr>
              <a:t>POLLUTANTS WITH HIGHEST AQI LEVELS</a:t>
            </a:r>
            <a:endPar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85153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CE2A52-1C23-3E1D-ED91-B6827A1DD680}"/>
              </a:ext>
            </a:extLst>
          </p:cNvPr>
          <p:cNvPicPr>
            <a:picLocks noChangeAspect="1"/>
          </p:cNvPicPr>
          <p:nvPr/>
        </p:nvPicPr>
        <p:blipFill>
          <a:blip r:embed="rId2"/>
          <a:stretch>
            <a:fillRect/>
          </a:stretch>
        </p:blipFill>
        <p:spPr>
          <a:xfrm>
            <a:off x="1681316" y="1189703"/>
            <a:ext cx="9507794" cy="4699820"/>
          </a:xfrm>
          <a:prstGeom prst="rect">
            <a:avLst/>
          </a:prstGeom>
        </p:spPr>
      </p:pic>
      <p:sp>
        <p:nvSpPr>
          <p:cNvPr id="4" name="TextBox 3">
            <a:extLst>
              <a:ext uri="{FF2B5EF4-FFF2-40B4-BE49-F238E27FC236}">
                <a16:creationId xmlns:a16="http://schemas.microsoft.com/office/drawing/2014/main" id="{2939AA6D-BBAD-3E9D-C463-32DD7CF9D24B}"/>
              </a:ext>
            </a:extLst>
          </p:cNvPr>
          <p:cNvSpPr txBox="1"/>
          <p:nvPr/>
        </p:nvSpPr>
        <p:spPr>
          <a:xfrm>
            <a:off x="2910348" y="658761"/>
            <a:ext cx="5574891" cy="461665"/>
          </a:xfrm>
          <a:prstGeom prst="rect">
            <a:avLst/>
          </a:prstGeom>
          <a:noFill/>
        </p:spPr>
        <p:txBody>
          <a:bodyPr wrap="square" rtlCol="0">
            <a:spAutoFit/>
          </a:bodyPr>
          <a:lstStyle/>
          <a:p>
            <a:pPr algn="ctr"/>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MONTH WISE AQI LEVELS</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8175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CB4BD-B67A-A9BB-B88D-00BACF4992B4}"/>
              </a:ext>
            </a:extLst>
          </p:cNvPr>
          <p:cNvSpPr>
            <a:spLocks noGrp="1"/>
          </p:cNvSpPr>
          <p:nvPr>
            <p:ph type="title"/>
          </p:nvPr>
        </p:nvSpPr>
        <p:spPr/>
        <p:txBody>
          <a:bodyPr>
            <a:normAutofit/>
          </a:bodyPr>
          <a:lstStyle/>
          <a:p>
            <a:r>
              <a:rPr lang="en-US" sz="2400" b="1" dirty="0">
                <a:solidFill>
                  <a:srgbClr val="FF0000"/>
                </a:solidFill>
              </a:rPr>
              <a:t>Observations:</a:t>
            </a:r>
            <a:endParaRPr lang="en-IN" sz="2400" b="1" dirty="0">
              <a:solidFill>
                <a:srgbClr val="FF0000"/>
              </a:solidFill>
            </a:endParaRPr>
          </a:p>
        </p:txBody>
      </p:sp>
      <p:sp>
        <p:nvSpPr>
          <p:cNvPr id="3" name="Text Placeholder 2">
            <a:extLst>
              <a:ext uri="{FF2B5EF4-FFF2-40B4-BE49-F238E27FC236}">
                <a16:creationId xmlns:a16="http://schemas.microsoft.com/office/drawing/2014/main" id="{71295C15-9F13-2BA3-8F6D-A449CFD5532A}"/>
              </a:ext>
            </a:extLst>
          </p:cNvPr>
          <p:cNvSpPr>
            <a:spLocks noGrp="1"/>
          </p:cNvSpPr>
          <p:nvPr>
            <p:ph type="body" idx="1"/>
          </p:nvPr>
        </p:nvSpPr>
        <p:spPr/>
        <p:txBody>
          <a:bodyPr>
            <a:normAutofit/>
          </a:bodyPr>
          <a:lstStyle/>
          <a:p>
            <a:pPr algn="l">
              <a:buNone/>
            </a:pPr>
            <a:r>
              <a:rPr lang="en-US" sz="2400" b="1"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Monthly AQI Trends:</a:t>
            </a: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AQI peaks in February, possibly due to:</a:t>
            </a:r>
          </a:p>
          <a:p>
            <a:pPr algn="l">
              <a:buFont typeface="+mj-lt"/>
              <a:buAutoNum type="arabicPeriod"/>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Cooler weather trapping pollutants (temperature inversion).</a:t>
            </a:r>
          </a:p>
          <a:p>
            <a:pPr algn="l">
              <a:buFont typeface="+mj-lt"/>
              <a:buAutoNum type="arabicPeriod"/>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Increased combustion activities (e.g., heating).</a:t>
            </a:r>
          </a:p>
          <a:p>
            <a:pPr algn="l">
              <a:buFont typeface="+mj-lt"/>
              <a:buAutoNum type="arabicPeriod"/>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A steady decline is observed from March to July, with a slight rise again in August.</a:t>
            </a:r>
          </a:p>
          <a:p>
            <a:pPr algn="l">
              <a:buFont typeface="+mj-lt"/>
              <a:buAutoNum type="arabicPeriod"/>
            </a:pP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Monsoon influence (starting June) likely helps clear pollutants, improving air quality in July.</a:t>
            </a:r>
          </a:p>
          <a:p>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6941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B0031E-E3DC-D2BA-6EBD-1528794A62AC}"/>
              </a:ext>
            </a:extLst>
          </p:cNvPr>
          <p:cNvPicPr>
            <a:picLocks noChangeAspect="1"/>
          </p:cNvPicPr>
          <p:nvPr/>
        </p:nvPicPr>
        <p:blipFill>
          <a:blip r:embed="rId2"/>
          <a:stretch>
            <a:fillRect/>
          </a:stretch>
        </p:blipFill>
        <p:spPr>
          <a:xfrm>
            <a:off x="806245" y="1278135"/>
            <a:ext cx="10707329" cy="4579218"/>
          </a:xfrm>
          <a:prstGeom prst="rect">
            <a:avLst/>
          </a:prstGeom>
        </p:spPr>
      </p:pic>
      <p:sp>
        <p:nvSpPr>
          <p:cNvPr id="4" name="TextBox 3">
            <a:extLst>
              <a:ext uri="{FF2B5EF4-FFF2-40B4-BE49-F238E27FC236}">
                <a16:creationId xmlns:a16="http://schemas.microsoft.com/office/drawing/2014/main" id="{631D17BA-2C0C-28BE-4B4D-2EAED387B96E}"/>
              </a:ext>
            </a:extLst>
          </p:cNvPr>
          <p:cNvSpPr txBox="1"/>
          <p:nvPr/>
        </p:nvSpPr>
        <p:spPr>
          <a:xfrm>
            <a:off x="2094271" y="707923"/>
            <a:ext cx="6754761" cy="461665"/>
          </a:xfrm>
          <a:prstGeom prst="rect">
            <a:avLst/>
          </a:prstGeom>
          <a:noFill/>
        </p:spPr>
        <p:txBody>
          <a:bodyPr wrap="square" rtlCol="0">
            <a:spAutoFit/>
          </a:bodyPr>
          <a:lstStyle/>
          <a:p>
            <a:pPr algn="ctr"/>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DAY WISE AQI LEVEL AND TREND</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9138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36E0-916B-E1AE-1441-70C373E0FBA5}"/>
              </a:ext>
            </a:extLst>
          </p:cNvPr>
          <p:cNvSpPr>
            <a:spLocks noGrp="1"/>
          </p:cNvSpPr>
          <p:nvPr>
            <p:ph type="title"/>
          </p:nvPr>
        </p:nvSpPr>
        <p:spPr/>
        <p:txBody>
          <a:bodyPr>
            <a:normAutofit/>
          </a:bodyPr>
          <a:lstStyle/>
          <a:p>
            <a:r>
              <a:rPr lang="en-US" sz="2400" b="1" dirty="0">
                <a:solidFill>
                  <a:srgbClr val="FF0000"/>
                </a:solidFill>
              </a:rPr>
              <a:t>Observations</a:t>
            </a:r>
            <a:endParaRPr lang="en-IN" sz="2400" b="1" dirty="0">
              <a:solidFill>
                <a:srgbClr val="FF0000"/>
              </a:solidFill>
            </a:endParaRPr>
          </a:p>
        </p:txBody>
      </p:sp>
      <p:sp>
        <p:nvSpPr>
          <p:cNvPr id="3" name="Text Placeholder 2">
            <a:extLst>
              <a:ext uri="{FF2B5EF4-FFF2-40B4-BE49-F238E27FC236}">
                <a16:creationId xmlns:a16="http://schemas.microsoft.com/office/drawing/2014/main" id="{35CF66A1-4269-B094-7F61-CB5E17BB6F1F}"/>
              </a:ext>
            </a:extLst>
          </p:cNvPr>
          <p:cNvSpPr>
            <a:spLocks noGrp="1"/>
          </p:cNvSpPr>
          <p:nvPr>
            <p:ph type="body" idx="1"/>
          </p:nvPr>
        </p:nvSpPr>
        <p:spPr>
          <a:xfrm>
            <a:off x="838200" y="1425677"/>
            <a:ext cx="10515600" cy="4751286"/>
          </a:xfrm>
        </p:spPr>
        <p:txBody>
          <a:bodyPr>
            <a:normAutofit/>
          </a:bodyPr>
          <a:lstStyle/>
          <a:p>
            <a:r>
              <a:rPr lang="en-US" sz="2000" b="1"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Weekly Cycle: </a:t>
            </a:r>
            <a:r>
              <a:rPr lang="en-US" sz="20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The line plot clearly illustrates a weekly cycle in air quality, with higher pollution levels during the working days and lower levels on the weekend. This pattern likely reflects the changes in human activities throughout the week in Hyderabad.</a:t>
            </a:r>
          </a:p>
          <a:p>
            <a:endParaRPr lang="en-US" sz="2000" dirty="0">
              <a:solidFill>
                <a:srgbClr val="1F1F1F"/>
              </a:solidFill>
              <a:latin typeface="Calibri" panose="020F0502020204030204" pitchFamily="34" charset="0"/>
              <a:ea typeface="Calibri" panose="020F0502020204030204" pitchFamily="34" charset="0"/>
              <a:cs typeface="Calibri" panose="020F0502020204030204" pitchFamily="34" charset="0"/>
            </a:endParaRPr>
          </a:p>
          <a:p>
            <a:r>
              <a:rPr lang="en-US" sz="2000" b="1"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Weekend Air Quality Improvement: </a:t>
            </a:r>
            <a:r>
              <a:rPr lang="en-US" sz="20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There's a noticeable dip in the overall AQI on Saturday and Sunday, indicating better air quality during the weekend</a:t>
            </a:r>
          </a:p>
          <a:p>
            <a:endParaRPr lang="en-IN" sz="2000" dirty="0">
              <a:latin typeface="Calibri" panose="020F0502020204030204" pitchFamily="34" charset="0"/>
              <a:ea typeface="Calibri" panose="020F0502020204030204" pitchFamily="34" charset="0"/>
              <a:cs typeface="Calibri" panose="020F0502020204030204" pitchFamily="34" charset="0"/>
            </a:endParaRPr>
          </a:p>
          <a:p>
            <a:r>
              <a:rPr lang="en-US" sz="2000" b="1"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Mid-Week Peak: </a:t>
            </a:r>
            <a:r>
              <a:rPr lang="en-US" sz="20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The AQI generally increases through the weekdays, reaching its highest point around Thursday or Friday. </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1505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A7283F-31FD-B9C9-3FC2-5DB7A871AB63}"/>
              </a:ext>
            </a:extLst>
          </p:cNvPr>
          <p:cNvPicPr>
            <a:picLocks noChangeAspect="1"/>
          </p:cNvPicPr>
          <p:nvPr/>
        </p:nvPicPr>
        <p:blipFill>
          <a:blip r:embed="rId2"/>
          <a:stretch>
            <a:fillRect/>
          </a:stretch>
        </p:blipFill>
        <p:spPr>
          <a:xfrm>
            <a:off x="1061884" y="1101213"/>
            <a:ext cx="10255045" cy="5034115"/>
          </a:xfrm>
          <a:prstGeom prst="rect">
            <a:avLst/>
          </a:prstGeom>
        </p:spPr>
      </p:pic>
      <p:sp>
        <p:nvSpPr>
          <p:cNvPr id="4" name="TextBox 3">
            <a:extLst>
              <a:ext uri="{FF2B5EF4-FFF2-40B4-BE49-F238E27FC236}">
                <a16:creationId xmlns:a16="http://schemas.microsoft.com/office/drawing/2014/main" id="{1E2EA688-DC0A-010C-CFE8-4BF19F0B1D07}"/>
              </a:ext>
            </a:extLst>
          </p:cNvPr>
          <p:cNvSpPr txBox="1"/>
          <p:nvPr/>
        </p:nvSpPr>
        <p:spPr>
          <a:xfrm>
            <a:off x="2595716" y="622859"/>
            <a:ext cx="6381136" cy="461665"/>
          </a:xfrm>
          <a:prstGeom prst="rect">
            <a:avLst/>
          </a:prstGeom>
          <a:noFill/>
        </p:spPr>
        <p:txBody>
          <a:bodyPr wrap="square" rtlCol="0">
            <a:spAutoFit/>
          </a:bodyPr>
          <a:lstStyle/>
          <a:p>
            <a:pPr algn="ctr"/>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AQI LEVELS TIME WISE</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7641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B928F-FF9B-090B-1850-F12AABCA673C}"/>
              </a:ext>
            </a:extLst>
          </p:cNvPr>
          <p:cNvSpPr>
            <a:spLocks noGrp="1"/>
          </p:cNvSpPr>
          <p:nvPr>
            <p:ph type="title"/>
          </p:nvPr>
        </p:nvSpPr>
        <p:spPr/>
        <p:txBody>
          <a:bodyPr>
            <a:norm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Observations:</a:t>
            </a:r>
            <a:endParaRPr lang="en-IN" sz="28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1">
            <a:extLst>
              <a:ext uri="{FF2B5EF4-FFF2-40B4-BE49-F238E27FC236}">
                <a16:creationId xmlns:a16="http://schemas.microsoft.com/office/drawing/2014/main" id="{6343FB1C-89A5-21AC-0B3A-951AC12D846B}"/>
              </a:ext>
            </a:extLst>
          </p:cNvPr>
          <p:cNvSpPr>
            <a:spLocks noGrp="1" noChangeArrowheads="1"/>
          </p:cNvSpPr>
          <p:nvPr>
            <p:ph type="body" idx="1"/>
          </p:nvPr>
        </p:nvSpPr>
        <p:spPr bwMode="auto">
          <a:xfrm>
            <a:off x="727588" y="1625578"/>
            <a:ext cx="1081418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Night &amp; Late Night Hours (10 PM – 5 AM):</a:t>
            </a:r>
            <a:b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AQI is highest due to low wind, cooler temperatures, and pollutant accumulation.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Morning Hours (6 AM – 10 AM):</a:t>
            </a:r>
            <a:b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AQI begins to rise with the start of traffic and daily activities.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Afternoon Hours (10 AM – 3 PM):</a:t>
            </a:r>
            <a:b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AQI is lowest—sunlight and wind help disperse pollutants effectively.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Evening Hours (4 PM – 9 PM):</a:t>
            </a:r>
            <a:b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AQI increases again due to traffic, reduced dispersion, and cooling temperatures.</a:t>
            </a:r>
          </a:p>
        </p:txBody>
      </p:sp>
    </p:spTree>
    <p:extLst>
      <p:ext uri="{BB962C8B-B14F-4D97-AF65-F5344CB8AC3E}">
        <p14:creationId xmlns:p14="http://schemas.microsoft.com/office/powerpoint/2010/main" val="323896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51F7C3-174E-C0C7-E3E7-62443BF350E7}"/>
              </a:ext>
            </a:extLst>
          </p:cNvPr>
          <p:cNvSpPr txBox="1"/>
          <p:nvPr/>
        </p:nvSpPr>
        <p:spPr>
          <a:xfrm>
            <a:off x="825910" y="658761"/>
            <a:ext cx="9999406" cy="4370427"/>
          </a:xfrm>
          <a:prstGeom prst="rect">
            <a:avLst/>
          </a:prstGeom>
          <a:noFill/>
        </p:spPr>
        <p:txBody>
          <a:bodyPr wrap="square" rtlCol="0">
            <a:spAutoFit/>
          </a:bodyPr>
          <a:lstStyle/>
          <a:p>
            <a:pPr algn="l">
              <a:buNone/>
            </a:pPr>
            <a:r>
              <a:rPr lang="en-US" sz="2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Recommendations from AQI Analysis </a:t>
            </a:r>
            <a:endParaRPr lang="en-US" sz="24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1. Control pollution in industrial areas like Bollaram, Zoo Park, and           Pashamylaram by checking emissions and managing waste properly.</a:t>
            </a:r>
          </a:p>
          <a:p>
            <a:pPr algn="l"/>
            <a:endPar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400" dirty="0">
                <a:solidFill>
                  <a:srgbClr val="1F1F1F"/>
                </a:solidFill>
                <a:latin typeface="Calibri" panose="020F0502020204030204" pitchFamily="34" charset="0"/>
                <a:ea typeface="Calibri" panose="020F0502020204030204" pitchFamily="34" charset="0"/>
                <a:cs typeface="Calibri" panose="020F0502020204030204" pitchFamily="34" charset="0"/>
              </a:rPr>
              <a:t>2. </a:t>
            </a: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Reduce dust and smoke (PM10 &amp; PM2.5) by watering roads, covering</a:t>
            </a:r>
            <a:b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br>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    construction sites, and using filters in factories.</a:t>
            </a:r>
          </a:p>
          <a:p>
            <a:pPr algn="l"/>
            <a:endPar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3. Plant more trees in polluted zones to naturally clean the air.</a:t>
            </a:r>
          </a:p>
          <a:p>
            <a:pPr algn="l"/>
            <a:endPar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endParaRPr>
          </a:p>
          <a:p>
            <a:pPr algn="l"/>
            <a:r>
              <a:rPr lang="en-US" sz="2400" b="0" i="0" dirty="0">
                <a:solidFill>
                  <a:srgbClr val="1F1F1F"/>
                </a:solidFill>
                <a:effectLst/>
                <a:latin typeface="Calibri" panose="020F0502020204030204" pitchFamily="34" charset="0"/>
                <a:ea typeface="Calibri" panose="020F0502020204030204" pitchFamily="34" charset="0"/>
                <a:cs typeface="Calibri" panose="020F0502020204030204" pitchFamily="34" charset="0"/>
              </a:rPr>
              <a:t>4. Limit traffic during night and early morning, when pollution is highest, and          promote carpooling or public transport.</a:t>
            </a:r>
          </a:p>
          <a:p>
            <a:endParaRPr lang="en-IN" dirty="0"/>
          </a:p>
        </p:txBody>
      </p:sp>
    </p:spTree>
    <p:extLst>
      <p:ext uri="{BB962C8B-B14F-4D97-AF65-F5344CB8AC3E}">
        <p14:creationId xmlns:p14="http://schemas.microsoft.com/office/powerpoint/2010/main" val="3504052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34CBC005-5BB0-54A3-7F2B-919E3E1DD1B8}"/>
              </a:ext>
            </a:extLst>
          </p:cNvPr>
          <p:cNvSpPr txBox="1"/>
          <p:nvPr/>
        </p:nvSpPr>
        <p:spPr>
          <a:xfrm>
            <a:off x="1165570" y="4601497"/>
            <a:ext cx="3450229" cy="1015663"/>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Presented by:</a:t>
            </a:r>
          </a:p>
          <a:p>
            <a:r>
              <a:rPr lang="en-US" sz="2000" b="1" dirty="0">
                <a:latin typeface="Calibri" panose="020F0502020204030204" pitchFamily="34" charset="0"/>
                <a:ea typeface="Calibri" panose="020F0502020204030204" pitchFamily="34" charset="0"/>
                <a:cs typeface="Calibri" panose="020F0502020204030204" pitchFamily="34" charset="0"/>
              </a:rPr>
              <a:t>Lalitha M</a:t>
            </a:r>
          </a:p>
          <a:p>
            <a:r>
              <a:rPr lang="en-US" sz="2000" b="1" dirty="0">
                <a:latin typeface="Calibri" panose="020F0502020204030204" pitchFamily="34" charset="0"/>
                <a:ea typeface="Calibri" panose="020F0502020204030204" pitchFamily="34" charset="0"/>
                <a:cs typeface="Calibri" panose="020F0502020204030204" pitchFamily="34" charset="0"/>
              </a:rPr>
              <a:t>Batch No: 373</a:t>
            </a: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TotalTime>
  <Words>831</Words>
  <Application>Microsoft Office PowerPoint</Application>
  <PresentationFormat>Widescreen</PresentationFormat>
  <Paragraphs>111</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Bookman Old Style</vt:lpstr>
      <vt:lpstr>Libre Baskerville</vt:lpstr>
      <vt:lpstr>Wingdings</vt:lpstr>
      <vt:lpstr>Arial</vt:lpstr>
      <vt:lpstr>Office Theme</vt:lpstr>
      <vt:lpstr>PowerPoint Presentation</vt:lpstr>
      <vt:lpstr> Agenda</vt:lpstr>
      <vt:lpstr>PowerPoint Presentation</vt:lpstr>
      <vt:lpstr>PowerPoint Presentation</vt:lpstr>
      <vt:lpstr>PowerPoint Presentation</vt:lpstr>
      <vt:lpstr>COMPARISON OF AIR QUALITY ACROSS LOCATIONS</vt:lpstr>
      <vt:lpstr>Observations:</vt:lpstr>
      <vt:lpstr>PowerPoint Presentation</vt:lpstr>
      <vt:lpstr>PowerPoint Presentation</vt:lpstr>
      <vt:lpstr>Observations:</vt:lpstr>
      <vt:lpstr>PowerPoint Presentation</vt:lpstr>
      <vt:lpstr>Observations</vt:lpstr>
      <vt:lpstr>PowerPoint Presentation</vt:lpstr>
      <vt:lpstr>Observations: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riyavarshi14@outlook.com</cp:lastModifiedBy>
  <cp:revision>6</cp:revision>
  <dcterms:created xsi:type="dcterms:W3CDTF">2021-02-16T05:19:01Z</dcterms:created>
  <dcterms:modified xsi:type="dcterms:W3CDTF">2025-04-20T16:43:06Z</dcterms:modified>
</cp:coreProperties>
</file>